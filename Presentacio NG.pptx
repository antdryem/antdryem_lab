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odec Pro Bold" charset="1" panose="00000600000000000000"/>
      <p:regular r:id="rId21"/>
    </p:embeddedFont>
    <p:embeddedFont>
      <p:font typeface="Codec Pro Ultra-Bold" charset="1" panose="00000700000000000000"/>
      <p:regular r:id="rId22"/>
    </p:embeddedFont>
    <p:embeddedFont>
      <p:font typeface="Codec Pro" charset="1" panose="00000500000000000000"/>
      <p:regular r:id="rId23"/>
    </p:embeddedFont>
    <p:embeddedFont>
      <p:font typeface="Open Sans" charset="1" panose="020B06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5C69F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3384" y="-1675084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1"/>
                </a:lnTo>
                <a:lnTo>
                  <a:pt x="0" y="3567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542441" y="8591206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41048" y="537816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4180105" y="6181594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904533" y="-494599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275713" y="462563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3"/>
                </a:lnTo>
                <a:lnTo>
                  <a:pt x="0" y="3021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4960748" y="776013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6481741" y="265415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0881" y="220971"/>
            <a:ext cx="1131118" cy="1590324"/>
          </a:xfrm>
          <a:custGeom>
            <a:avLst/>
            <a:gdLst/>
            <a:ahLst/>
            <a:cxnLst/>
            <a:rect r="r" b="b" t="t" l="l"/>
            <a:pathLst>
              <a:path h="1590324" w="1131118">
                <a:moveTo>
                  <a:pt x="0" y="0"/>
                </a:moveTo>
                <a:lnTo>
                  <a:pt x="1131118" y="0"/>
                </a:lnTo>
                <a:lnTo>
                  <a:pt x="1131118" y="1590324"/>
                </a:lnTo>
                <a:lnTo>
                  <a:pt x="0" y="1590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55757" y="2098262"/>
            <a:ext cx="13628837" cy="2940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34"/>
              </a:lnSpc>
            </a:pPr>
            <a:r>
              <a:rPr lang="en-US" sz="11206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Conferencias sobre cultura digital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23502" y="5396816"/>
            <a:ext cx="11137246" cy="2987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0"/>
              </a:lnSpc>
            </a:pPr>
            <a:r>
              <a:rPr lang="en-US" b="true" sz="2787" spc="78">
                <a:solidFill>
                  <a:srgbClr val="E4E5E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EL PROBLEMA NO ES LA TECNOLOGÍA. ES QUE NO LA ENTENDEMOS:</a:t>
            </a:r>
          </a:p>
          <a:p>
            <a:pPr algn="ctr">
              <a:lnSpc>
                <a:spcPts val="2620"/>
              </a:lnSpc>
            </a:pPr>
          </a:p>
          <a:p>
            <a:pPr algn="l">
              <a:lnSpc>
                <a:spcPts val="2620"/>
              </a:lnSpc>
            </a:pPr>
            <a:r>
              <a:rPr lang="en-US" b="true" sz="2787" spc="78">
                <a:solidFill>
                  <a:srgbClr val="E4E5E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TENEMOS UNA INTELIGENCIA EMOCIONAL DEL PALEOLITO</a:t>
            </a:r>
          </a:p>
          <a:p>
            <a:pPr algn="l">
              <a:lnSpc>
                <a:spcPts val="2620"/>
              </a:lnSpc>
            </a:pPr>
          </a:p>
          <a:p>
            <a:pPr algn="l">
              <a:lnSpc>
                <a:spcPts val="2620"/>
              </a:lnSpc>
            </a:pPr>
            <a:r>
              <a:rPr lang="en-US" b="true" sz="2787" spc="78">
                <a:solidFill>
                  <a:srgbClr val="E4E5E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TENEMOS INSTITUCIONES MEDIEVALES </a:t>
            </a:r>
          </a:p>
          <a:p>
            <a:pPr algn="l">
              <a:lnSpc>
                <a:spcPts val="2620"/>
              </a:lnSpc>
            </a:pPr>
          </a:p>
          <a:p>
            <a:pPr algn="l">
              <a:lnSpc>
                <a:spcPts val="2620"/>
              </a:lnSpc>
            </a:pPr>
            <a:r>
              <a:rPr lang="en-US" b="true" sz="2787" spc="78">
                <a:solidFill>
                  <a:srgbClr val="E4E5E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USAMOS TECNOLOGÍA DE DIOSES TODOS LOS DÍAS</a:t>
            </a:r>
          </a:p>
          <a:p>
            <a:pPr algn="l">
              <a:lnSpc>
                <a:spcPts val="262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578630" y="230496"/>
            <a:ext cx="1954255" cy="104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b="true" sz="2689" spc="182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GRUPO NUEVA GALICIA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72249" y="8591206"/>
            <a:ext cx="7543502" cy="95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3"/>
              </a:lnSpc>
              <a:spcBef>
                <a:spcPct val="0"/>
              </a:spcBef>
            </a:pPr>
            <a:r>
              <a:rPr lang="en-US" b="true" sz="1799" spc="122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ESTAMOS VIVIENDO EN EL FUTURO...</a:t>
            </a:r>
          </a:p>
          <a:p>
            <a:pPr algn="ctr">
              <a:lnSpc>
                <a:spcPts val="1853"/>
              </a:lnSpc>
              <a:spcBef>
                <a:spcPct val="0"/>
              </a:spcBef>
            </a:pPr>
            <a:r>
              <a:rPr lang="en-US" b="true" sz="1799" spc="122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PERO SEGUIMOS PENSANDO COMO SI NO LO ESTUVIÉRAMOS</a:t>
            </a:r>
          </a:p>
          <a:p>
            <a:pPr algn="ctr">
              <a:lnSpc>
                <a:spcPts val="1853"/>
              </a:lnSpc>
              <a:spcBef>
                <a:spcPct val="0"/>
              </a:spcBef>
            </a:pPr>
          </a:p>
          <a:p>
            <a:pPr algn="ctr">
              <a:lnSpc>
                <a:spcPts val="185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0994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7471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39547" y="4599245"/>
            <a:ext cx="3584619" cy="4171812"/>
            <a:chOff x="0" y="0"/>
            <a:chExt cx="1242401" cy="14459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2401" cy="1445918"/>
            </a:xfrm>
            <a:custGeom>
              <a:avLst/>
              <a:gdLst/>
              <a:ahLst/>
              <a:cxnLst/>
              <a:rect r="r" b="b" t="t" l="l"/>
              <a:pathLst>
                <a:path h="1445918" w="1242401">
                  <a:moveTo>
                    <a:pt x="51834" y="0"/>
                  </a:moveTo>
                  <a:lnTo>
                    <a:pt x="1190567" y="0"/>
                  </a:lnTo>
                  <a:cubicBezTo>
                    <a:pt x="1219194" y="0"/>
                    <a:pt x="1242401" y="23207"/>
                    <a:pt x="1242401" y="51834"/>
                  </a:cubicBezTo>
                  <a:lnTo>
                    <a:pt x="1242401" y="1394083"/>
                  </a:lnTo>
                  <a:cubicBezTo>
                    <a:pt x="1242401" y="1422711"/>
                    <a:pt x="1219194" y="1445918"/>
                    <a:pt x="1190567" y="1445918"/>
                  </a:cubicBezTo>
                  <a:lnTo>
                    <a:pt x="51834" y="1445918"/>
                  </a:lnTo>
                  <a:cubicBezTo>
                    <a:pt x="23207" y="1445918"/>
                    <a:pt x="0" y="1422711"/>
                    <a:pt x="0" y="1394083"/>
                  </a:cubicBezTo>
                  <a:lnTo>
                    <a:pt x="0" y="51834"/>
                  </a:lnTo>
                  <a:cubicBezTo>
                    <a:pt x="0" y="23207"/>
                    <a:pt x="23207" y="0"/>
                    <a:pt x="51834" y="0"/>
                  </a:cubicBezTo>
                  <a:close/>
                </a:path>
              </a:pathLst>
            </a:custGeom>
            <a:solidFill>
              <a:srgbClr val="D1D2DB">
                <a:alpha val="4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42401" cy="1484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2459" y="4599245"/>
            <a:ext cx="3584619" cy="4171812"/>
            <a:chOff x="0" y="0"/>
            <a:chExt cx="1242401" cy="1445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2401" cy="1445918"/>
            </a:xfrm>
            <a:custGeom>
              <a:avLst/>
              <a:gdLst/>
              <a:ahLst/>
              <a:cxnLst/>
              <a:rect r="r" b="b" t="t" l="l"/>
              <a:pathLst>
                <a:path h="1445918" w="1242401">
                  <a:moveTo>
                    <a:pt x="51834" y="0"/>
                  </a:moveTo>
                  <a:lnTo>
                    <a:pt x="1190567" y="0"/>
                  </a:lnTo>
                  <a:cubicBezTo>
                    <a:pt x="1219194" y="0"/>
                    <a:pt x="1242401" y="23207"/>
                    <a:pt x="1242401" y="51834"/>
                  </a:cubicBezTo>
                  <a:lnTo>
                    <a:pt x="1242401" y="1394083"/>
                  </a:lnTo>
                  <a:cubicBezTo>
                    <a:pt x="1242401" y="1422711"/>
                    <a:pt x="1219194" y="1445918"/>
                    <a:pt x="1190567" y="1445918"/>
                  </a:cubicBezTo>
                  <a:lnTo>
                    <a:pt x="51834" y="1445918"/>
                  </a:lnTo>
                  <a:cubicBezTo>
                    <a:pt x="23207" y="1445918"/>
                    <a:pt x="0" y="1422711"/>
                    <a:pt x="0" y="1394083"/>
                  </a:cubicBezTo>
                  <a:lnTo>
                    <a:pt x="0" y="51834"/>
                  </a:lnTo>
                  <a:cubicBezTo>
                    <a:pt x="0" y="23207"/>
                    <a:pt x="23207" y="0"/>
                    <a:pt x="51834" y="0"/>
                  </a:cubicBezTo>
                  <a:close/>
                </a:path>
              </a:pathLst>
            </a:custGeom>
            <a:solidFill>
              <a:srgbClr val="D1D2DB">
                <a:alpha val="4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42401" cy="1484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141206" y="4599245"/>
            <a:ext cx="3584619" cy="4171812"/>
            <a:chOff x="0" y="0"/>
            <a:chExt cx="1242401" cy="14459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42401" cy="1445918"/>
            </a:xfrm>
            <a:custGeom>
              <a:avLst/>
              <a:gdLst/>
              <a:ahLst/>
              <a:cxnLst/>
              <a:rect r="r" b="b" t="t" l="l"/>
              <a:pathLst>
                <a:path h="1445918" w="1242401">
                  <a:moveTo>
                    <a:pt x="51834" y="0"/>
                  </a:moveTo>
                  <a:lnTo>
                    <a:pt x="1190567" y="0"/>
                  </a:lnTo>
                  <a:cubicBezTo>
                    <a:pt x="1219194" y="0"/>
                    <a:pt x="1242401" y="23207"/>
                    <a:pt x="1242401" y="51834"/>
                  </a:cubicBezTo>
                  <a:lnTo>
                    <a:pt x="1242401" y="1394083"/>
                  </a:lnTo>
                  <a:cubicBezTo>
                    <a:pt x="1242401" y="1422711"/>
                    <a:pt x="1219194" y="1445918"/>
                    <a:pt x="1190567" y="1445918"/>
                  </a:cubicBezTo>
                  <a:lnTo>
                    <a:pt x="51834" y="1445918"/>
                  </a:lnTo>
                  <a:cubicBezTo>
                    <a:pt x="23207" y="1445918"/>
                    <a:pt x="0" y="1422711"/>
                    <a:pt x="0" y="1394083"/>
                  </a:cubicBezTo>
                  <a:lnTo>
                    <a:pt x="0" y="51834"/>
                  </a:lnTo>
                  <a:cubicBezTo>
                    <a:pt x="0" y="23207"/>
                    <a:pt x="23207" y="0"/>
                    <a:pt x="51834" y="0"/>
                  </a:cubicBezTo>
                  <a:close/>
                </a:path>
              </a:pathLst>
            </a:custGeom>
            <a:solidFill>
              <a:srgbClr val="D1D2DB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42401" cy="1484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39547" y="4599245"/>
            <a:ext cx="3507247" cy="4102776"/>
            <a:chOff x="0" y="0"/>
            <a:chExt cx="1215584" cy="14219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5584" cy="1421990"/>
            </a:xfrm>
            <a:custGeom>
              <a:avLst/>
              <a:gdLst/>
              <a:ahLst/>
              <a:cxnLst/>
              <a:rect r="r" b="b" t="t" l="l"/>
              <a:pathLst>
                <a:path h="1421990" w="1215584">
                  <a:moveTo>
                    <a:pt x="48563" y="0"/>
                  </a:moveTo>
                  <a:lnTo>
                    <a:pt x="1167021" y="0"/>
                  </a:lnTo>
                  <a:cubicBezTo>
                    <a:pt x="1193842" y="0"/>
                    <a:pt x="1215584" y="21742"/>
                    <a:pt x="1215584" y="48563"/>
                  </a:cubicBezTo>
                  <a:lnTo>
                    <a:pt x="1215584" y="1373427"/>
                  </a:lnTo>
                  <a:cubicBezTo>
                    <a:pt x="1215584" y="1400248"/>
                    <a:pt x="1193842" y="1421990"/>
                    <a:pt x="1167021" y="1421990"/>
                  </a:cubicBezTo>
                  <a:lnTo>
                    <a:pt x="48563" y="1421990"/>
                  </a:lnTo>
                  <a:cubicBezTo>
                    <a:pt x="21742" y="1421990"/>
                    <a:pt x="0" y="1400248"/>
                    <a:pt x="0" y="1373427"/>
                  </a:cubicBezTo>
                  <a:lnTo>
                    <a:pt x="0" y="48563"/>
                  </a:lnTo>
                  <a:cubicBezTo>
                    <a:pt x="0" y="21742"/>
                    <a:pt x="21742" y="0"/>
                    <a:pt x="48563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15584" cy="1460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83156" y="4599245"/>
            <a:ext cx="3507247" cy="4102776"/>
            <a:chOff x="0" y="0"/>
            <a:chExt cx="1215584" cy="14219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5584" cy="1421990"/>
            </a:xfrm>
            <a:custGeom>
              <a:avLst/>
              <a:gdLst/>
              <a:ahLst/>
              <a:cxnLst/>
              <a:rect r="r" b="b" t="t" l="l"/>
              <a:pathLst>
                <a:path h="1421990" w="1215584">
                  <a:moveTo>
                    <a:pt x="48563" y="0"/>
                  </a:moveTo>
                  <a:lnTo>
                    <a:pt x="1167021" y="0"/>
                  </a:lnTo>
                  <a:cubicBezTo>
                    <a:pt x="1193842" y="0"/>
                    <a:pt x="1215584" y="21742"/>
                    <a:pt x="1215584" y="48563"/>
                  </a:cubicBezTo>
                  <a:lnTo>
                    <a:pt x="1215584" y="1373427"/>
                  </a:lnTo>
                  <a:cubicBezTo>
                    <a:pt x="1215584" y="1400248"/>
                    <a:pt x="1193842" y="1421990"/>
                    <a:pt x="1167021" y="1421990"/>
                  </a:cubicBezTo>
                  <a:lnTo>
                    <a:pt x="48563" y="1421990"/>
                  </a:lnTo>
                  <a:cubicBezTo>
                    <a:pt x="21742" y="1421990"/>
                    <a:pt x="0" y="1400248"/>
                    <a:pt x="0" y="1373427"/>
                  </a:cubicBezTo>
                  <a:lnTo>
                    <a:pt x="0" y="48563"/>
                  </a:lnTo>
                  <a:cubicBezTo>
                    <a:pt x="0" y="21742"/>
                    <a:pt x="21742" y="0"/>
                    <a:pt x="48563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15584" cy="1460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141206" y="4599245"/>
            <a:ext cx="3507247" cy="4102776"/>
            <a:chOff x="0" y="0"/>
            <a:chExt cx="1215584" cy="14219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15584" cy="1421990"/>
            </a:xfrm>
            <a:custGeom>
              <a:avLst/>
              <a:gdLst/>
              <a:ahLst/>
              <a:cxnLst/>
              <a:rect r="r" b="b" t="t" l="l"/>
              <a:pathLst>
                <a:path h="1421990" w="1215584">
                  <a:moveTo>
                    <a:pt x="48563" y="0"/>
                  </a:moveTo>
                  <a:lnTo>
                    <a:pt x="1167021" y="0"/>
                  </a:lnTo>
                  <a:cubicBezTo>
                    <a:pt x="1193842" y="0"/>
                    <a:pt x="1215584" y="21742"/>
                    <a:pt x="1215584" y="48563"/>
                  </a:cubicBezTo>
                  <a:lnTo>
                    <a:pt x="1215584" y="1373427"/>
                  </a:lnTo>
                  <a:cubicBezTo>
                    <a:pt x="1215584" y="1400248"/>
                    <a:pt x="1193842" y="1421990"/>
                    <a:pt x="1167021" y="1421990"/>
                  </a:cubicBezTo>
                  <a:lnTo>
                    <a:pt x="48563" y="1421990"/>
                  </a:lnTo>
                  <a:cubicBezTo>
                    <a:pt x="21742" y="1421990"/>
                    <a:pt x="0" y="1400248"/>
                    <a:pt x="0" y="1373427"/>
                  </a:cubicBezTo>
                  <a:lnTo>
                    <a:pt x="0" y="48563"/>
                  </a:lnTo>
                  <a:cubicBezTo>
                    <a:pt x="0" y="21742"/>
                    <a:pt x="21742" y="0"/>
                    <a:pt x="48563" y="0"/>
                  </a:cubicBezTo>
                  <a:close/>
                </a:path>
              </a:pathLst>
            </a:custGeom>
            <a:solidFill>
              <a:srgbClr val="F0F2F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15584" cy="1460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376429" y="4323842"/>
            <a:ext cx="2033483" cy="203348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B46B6">
                    <a:alpha val="100000"/>
                  </a:srgbClr>
                </a:gs>
                <a:gs pos="100000">
                  <a:srgbClr val="5C69F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3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920037" y="4323842"/>
            <a:ext cx="2033483" cy="203348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B46B6">
                    <a:alpha val="100000"/>
                  </a:srgbClr>
                </a:gs>
                <a:gs pos="100000">
                  <a:srgbClr val="5C69F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3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878088" y="4323842"/>
            <a:ext cx="2033483" cy="2033483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B46B6">
                    <a:alpha val="100000"/>
                  </a:srgbClr>
                </a:gs>
                <a:gs pos="100000">
                  <a:srgbClr val="5C69F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3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2535509" y="4482923"/>
            <a:ext cx="1715322" cy="1715322"/>
          </a:xfrm>
          <a:custGeom>
            <a:avLst/>
            <a:gdLst/>
            <a:ahLst/>
            <a:cxnLst/>
            <a:rect r="r" b="b" t="t" l="l"/>
            <a:pathLst>
              <a:path h="1715322" w="1715322">
                <a:moveTo>
                  <a:pt x="0" y="0"/>
                </a:moveTo>
                <a:lnTo>
                  <a:pt x="1715323" y="0"/>
                </a:lnTo>
                <a:lnTo>
                  <a:pt x="1715323" y="1715322"/>
                </a:lnTo>
                <a:lnTo>
                  <a:pt x="0" y="1715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920037" y="4360762"/>
            <a:ext cx="1996563" cy="1996563"/>
          </a:xfrm>
          <a:custGeom>
            <a:avLst/>
            <a:gdLst/>
            <a:ahLst/>
            <a:cxnLst/>
            <a:rect r="r" b="b" t="t" l="l"/>
            <a:pathLst>
              <a:path h="1996563" w="1996563">
                <a:moveTo>
                  <a:pt x="0" y="0"/>
                </a:moveTo>
                <a:lnTo>
                  <a:pt x="1996563" y="0"/>
                </a:lnTo>
                <a:lnTo>
                  <a:pt x="1996563" y="1996563"/>
                </a:lnTo>
                <a:lnTo>
                  <a:pt x="0" y="19965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3878088" y="4323842"/>
            <a:ext cx="2033483" cy="2033483"/>
          </a:xfrm>
          <a:custGeom>
            <a:avLst/>
            <a:gdLst/>
            <a:ahLst/>
            <a:cxnLst/>
            <a:rect r="r" b="b" t="t" l="l"/>
            <a:pathLst>
              <a:path h="2033483" w="2033483">
                <a:moveTo>
                  <a:pt x="0" y="0"/>
                </a:moveTo>
                <a:lnTo>
                  <a:pt x="2033483" y="0"/>
                </a:lnTo>
                <a:lnTo>
                  <a:pt x="2033483" y="2033483"/>
                </a:lnTo>
                <a:lnTo>
                  <a:pt x="0" y="20334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639547" y="1437684"/>
            <a:ext cx="15133278" cy="225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6"/>
              </a:lnSpc>
            </a:pPr>
            <a:r>
              <a:rPr lang="en-US" sz="5900" b="true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ESTE PROYECTO GIRA ALREDEDOR DE TRES IDEAS CLAVE, IDEALES PARA QUE LOS JOVENES LLEGUEN A SER ADULTOS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78010" y="6704201"/>
            <a:ext cx="2830322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INTELIGENCIA ARTIFICIAL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521618" y="6704201"/>
            <a:ext cx="2830322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ALGORITMOS DE INTERNET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518355" y="6704201"/>
            <a:ext cx="2830322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b="true" sz="2100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PENSAMIENTO CRITICO DIGITAL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978010" y="7300093"/>
            <a:ext cx="2830322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El futuro ya está aquí.</a:t>
            </a:r>
          </a:p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Pero casi nadie sabe usarlo bien.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21618" y="7242943"/>
            <a:ext cx="2830322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Deciden lo que ves todos los días.</a:t>
            </a:r>
          </a:p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Pero no sabes cómo funcionan.</a:t>
            </a:r>
          </a:p>
          <a:p>
            <a:pPr algn="ctr">
              <a:lnSpc>
                <a:spcPts val="2639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13518355" y="7395343"/>
            <a:ext cx="2830322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Es la habilidad más importante</a:t>
            </a:r>
          </a:p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en la era digital.</a:t>
            </a:r>
          </a:p>
          <a:p>
            <a:pPr algn="ctr">
              <a:lnSpc>
                <a:spcPts val="263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5C69F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03384" y="-1675084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1"/>
                </a:lnTo>
                <a:lnTo>
                  <a:pt x="0" y="3567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542441" y="8591206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41048" y="537816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4180105" y="6181594"/>
            <a:ext cx="6000534" cy="3567590"/>
          </a:xfrm>
          <a:custGeom>
            <a:avLst/>
            <a:gdLst/>
            <a:ahLst/>
            <a:cxnLst/>
            <a:rect r="r" b="b" t="t" l="l"/>
            <a:pathLst>
              <a:path h="3567590" w="6000534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904533" y="-494599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275713" y="462563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3"/>
                </a:lnTo>
                <a:lnTo>
                  <a:pt x="0" y="3021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4960748" y="776013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6481741" y="2654155"/>
            <a:ext cx="5081972" cy="3021463"/>
          </a:xfrm>
          <a:custGeom>
            <a:avLst/>
            <a:gdLst/>
            <a:ahLst/>
            <a:cxnLst/>
            <a:rect r="r" b="b" t="t" l="l"/>
            <a:pathLst>
              <a:path h="3021463" w="5081972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17383" y="1214899"/>
            <a:ext cx="9253234" cy="2940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34"/>
              </a:lnSpc>
            </a:pPr>
            <a:r>
              <a:rPr lang="en-US" sz="11206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¿Qué es este proyecto?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59486" y="4616110"/>
            <a:ext cx="13222255" cy="905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8"/>
              </a:lnSpc>
            </a:pPr>
            <a:r>
              <a:rPr lang="en-US" b="true" sz="3487" spc="97">
                <a:solidFill>
                  <a:srgbClr val="E4E5E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CONFERENCIAS EDUCATIVAS PARA ESTUDIANTES DONDE SE EXPLICA, DE FORMA CLARA Y ACCESIBLE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59486" y="6863487"/>
            <a:ext cx="13222255" cy="230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  <a:spcBef>
                <a:spcPct val="0"/>
              </a:spcBef>
            </a:pPr>
            <a:r>
              <a:rPr lang="en-US" b="true" sz="2884" spc="196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• CÓMO FUNCIONA REALMENTE INTERNET</a:t>
            </a:r>
          </a:p>
          <a:p>
            <a:pPr algn="l">
              <a:lnSpc>
                <a:spcPts val="2970"/>
              </a:lnSpc>
              <a:spcBef>
                <a:spcPct val="0"/>
              </a:spcBef>
            </a:pPr>
          </a:p>
          <a:p>
            <a:pPr algn="l">
              <a:lnSpc>
                <a:spcPts val="2970"/>
              </a:lnSpc>
              <a:spcBef>
                <a:spcPct val="0"/>
              </a:spcBef>
            </a:pPr>
            <a:r>
              <a:rPr lang="en-US" b="true" sz="2884" spc="196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 • CÓMO OPERAN LOS ALGORITMOS QUE CONSUMEN DIARIAMENTE</a:t>
            </a:r>
          </a:p>
          <a:p>
            <a:pPr algn="l">
              <a:lnSpc>
                <a:spcPts val="2970"/>
              </a:lnSpc>
              <a:spcBef>
                <a:spcPct val="0"/>
              </a:spcBef>
            </a:pPr>
          </a:p>
          <a:p>
            <a:pPr algn="l">
              <a:lnSpc>
                <a:spcPts val="2970"/>
              </a:lnSpc>
              <a:spcBef>
                <a:spcPct val="0"/>
              </a:spcBef>
            </a:pPr>
            <a:r>
              <a:rPr lang="en-US" b="true" sz="2884" spc="196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 • QUÉ ES LA INTELIGENCIA ARTIFICIAL Y CÓMO USARLA DE FORMA PRODUCTIVA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7668455" cy="10401374"/>
          </a:xfrm>
          <a:custGeom>
            <a:avLst/>
            <a:gdLst/>
            <a:ahLst/>
            <a:cxnLst/>
            <a:rect r="r" b="b" t="t" l="l"/>
            <a:pathLst>
              <a:path h="10401374" w="7668455">
                <a:moveTo>
                  <a:pt x="7668455" y="0"/>
                </a:moveTo>
                <a:lnTo>
                  <a:pt x="0" y="0"/>
                </a:lnTo>
                <a:lnTo>
                  <a:pt x="0" y="10401374"/>
                </a:lnTo>
                <a:lnTo>
                  <a:pt x="7668455" y="10401374"/>
                </a:lnTo>
                <a:lnTo>
                  <a:pt x="76684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5638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82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0"/>
                </a:moveTo>
                <a:lnTo>
                  <a:pt x="0" y="0"/>
                </a:lnTo>
                <a:lnTo>
                  <a:pt x="0" y="1658599"/>
                </a:lnTo>
                <a:lnTo>
                  <a:pt x="2789692" y="1658599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559302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0"/>
                </a:moveTo>
                <a:lnTo>
                  <a:pt x="0" y="0"/>
                </a:lnTo>
                <a:lnTo>
                  <a:pt x="0" y="1658600"/>
                </a:lnTo>
                <a:lnTo>
                  <a:pt x="2789692" y="1658600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772825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0"/>
                </a:moveTo>
                <a:lnTo>
                  <a:pt x="0" y="0"/>
                </a:lnTo>
                <a:lnTo>
                  <a:pt x="0" y="1404701"/>
                </a:lnTo>
                <a:lnTo>
                  <a:pt x="2362646" y="1404701"/>
                </a:lnTo>
                <a:lnTo>
                  <a:pt x="23626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20627" y="1507858"/>
            <a:ext cx="4306839" cy="6356958"/>
          </a:xfrm>
          <a:custGeom>
            <a:avLst/>
            <a:gdLst/>
            <a:ahLst/>
            <a:cxnLst/>
            <a:rect r="r" b="b" t="t" l="l"/>
            <a:pathLst>
              <a:path h="6356958" w="4306839">
                <a:moveTo>
                  <a:pt x="0" y="0"/>
                </a:moveTo>
                <a:lnTo>
                  <a:pt x="4306839" y="0"/>
                </a:lnTo>
                <a:lnTo>
                  <a:pt x="430683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450297" y="2122301"/>
            <a:ext cx="6702926" cy="74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8"/>
              </a:lnSpc>
            </a:pPr>
            <a:r>
              <a:rPr lang="en-US" sz="5200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 ANDRÉS ANTÓN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50297" y="4171987"/>
            <a:ext cx="6702926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Conferencista en inteligencia artificial y cultura tecnológica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6472" y="6104683"/>
            <a:ext cx="7723828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5193E"/>
                </a:solidFill>
                <a:latin typeface="Open Sans"/>
                <a:ea typeface="Open Sans"/>
                <a:cs typeface="Open Sans"/>
                <a:sym typeface="Open Sans"/>
              </a:rPr>
              <a:t>Cómo funcionan </a:t>
            </a:r>
            <a:r>
              <a:rPr lang="en-US" sz="2499">
                <a:solidFill>
                  <a:srgbClr val="15193E"/>
                </a:solidFill>
                <a:latin typeface="Open Sans"/>
                <a:ea typeface="Open Sans"/>
                <a:cs typeface="Open Sans"/>
                <a:sym typeface="Open Sans"/>
              </a:rPr>
              <a:t>las tecnologías que usan a diario.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5193E"/>
                </a:solidFill>
                <a:latin typeface="Open Sans"/>
                <a:ea typeface="Open Sans"/>
                <a:cs typeface="Open Sans"/>
                <a:sym typeface="Open Sans"/>
              </a:rPr>
              <a:t>Explico de forma clara temas como inteligencia artificial, algoritmos y el impacto de internet en su forma de pensar, aprender y tomar decisiones.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7668455" cy="10401374"/>
          </a:xfrm>
          <a:custGeom>
            <a:avLst/>
            <a:gdLst/>
            <a:ahLst/>
            <a:cxnLst/>
            <a:rect r="r" b="b" t="t" l="l"/>
            <a:pathLst>
              <a:path h="10401374" w="7668455">
                <a:moveTo>
                  <a:pt x="7668455" y="0"/>
                </a:moveTo>
                <a:lnTo>
                  <a:pt x="0" y="0"/>
                </a:lnTo>
                <a:lnTo>
                  <a:pt x="0" y="10401374"/>
                </a:lnTo>
                <a:lnTo>
                  <a:pt x="7668455" y="10401374"/>
                </a:lnTo>
                <a:lnTo>
                  <a:pt x="76684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5638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82795" y="-549566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0"/>
                </a:moveTo>
                <a:lnTo>
                  <a:pt x="0" y="0"/>
                </a:lnTo>
                <a:lnTo>
                  <a:pt x="0" y="1658599"/>
                </a:lnTo>
                <a:lnTo>
                  <a:pt x="2789692" y="1658599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559302" y="451930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0"/>
                </a:moveTo>
                <a:lnTo>
                  <a:pt x="0" y="0"/>
                </a:lnTo>
                <a:lnTo>
                  <a:pt x="0" y="1658600"/>
                </a:lnTo>
                <a:lnTo>
                  <a:pt x="2789692" y="1658600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772825" y="-422617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0"/>
                </a:moveTo>
                <a:lnTo>
                  <a:pt x="0" y="0"/>
                </a:lnTo>
                <a:lnTo>
                  <a:pt x="0" y="1404701"/>
                </a:lnTo>
                <a:lnTo>
                  <a:pt x="2362646" y="1404701"/>
                </a:lnTo>
                <a:lnTo>
                  <a:pt x="23626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682795" y="9177967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6559302" y="8234368"/>
            <a:ext cx="2789693" cy="1658599"/>
          </a:xfrm>
          <a:custGeom>
            <a:avLst/>
            <a:gdLst/>
            <a:ahLst/>
            <a:cxnLst/>
            <a:rect r="r" b="b" t="t" l="l"/>
            <a:pathLst>
              <a:path h="1658599" w="2789693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6772825" y="9238143"/>
            <a:ext cx="2362646" cy="1404701"/>
          </a:xfrm>
          <a:custGeom>
            <a:avLst/>
            <a:gdLst/>
            <a:ahLst/>
            <a:cxnLst/>
            <a:rect r="r" b="b" t="t" l="l"/>
            <a:pathLst>
              <a:path h="1404701" w="2362646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801937" y="634294"/>
            <a:ext cx="6702926" cy="74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8"/>
              </a:lnSpc>
            </a:pPr>
            <a:r>
              <a:rPr lang="en-US" sz="5200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 </a:t>
            </a:r>
            <a:r>
              <a:rPr lang="en-US" sz="5200" b="true">
                <a:solidFill>
                  <a:srgbClr val="E4E5EC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ANDRÉS </a:t>
            </a:r>
            <a:r>
              <a:rPr lang="en-US" sz="5200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ANTÓN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4079" y="2579756"/>
            <a:ext cx="6702926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E4E5EC"/>
                </a:solidFill>
                <a:latin typeface="Codec Pro"/>
                <a:ea typeface="Codec Pro"/>
                <a:cs typeface="Codec Pro"/>
                <a:sym typeface="Codec Pro"/>
              </a:rPr>
              <a:t>Andrés Antón es conferencista en inteligencia artificial y cultura tecnológica, enfocado en apoyar a estudiantes a comprender cómo funcionan las tecnologías que utilizan todos los días.</a:t>
            </a:r>
          </a:p>
          <a:p>
            <a:pPr algn="l">
              <a:lnSpc>
                <a:spcPts val="3719"/>
              </a:lnSpc>
            </a:pPr>
          </a:p>
          <a:p>
            <a:pPr algn="l">
              <a:lnSpc>
                <a:spcPts val="371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579756"/>
            <a:ext cx="7723828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5193E"/>
                </a:solidFill>
                <a:latin typeface="Open Sans"/>
                <a:ea typeface="Open Sans"/>
                <a:cs typeface="Open Sans"/>
                <a:sym typeface="Open Sans"/>
              </a:rPr>
              <a:t>Desde una perspectiva humana que combina experienci</a:t>
            </a:r>
            <a:r>
              <a:rPr lang="en-US" sz="2499">
                <a:solidFill>
                  <a:srgbClr val="15193E"/>
                </a:solidFill>
                <a:latin typeface="Open Sans"/>
                <a:ea typeface="Open Sans"/>
                <a:cs typeface="Open Sans"/>
                <a:sym typeface="Open Sans"/>
              </a:rPr>
              <a:t>a en desarrollo de software y una formación continua, sus conferencias explican de forma clara temas como algoritmos, economía de la atención e inteligencia artificial.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5193E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70279" y="6010275"/>
            <a:ext cx="6702926" cy="331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E4E5EC"/>
                </a:solidFill>
                <a:latin typeface="Codec Pro"/>
                <a:ea typeface="Codec Pro"/>
                <a:cs typeface="Codec Pro"/>
                <a:sym typeface="Codec Pro"/>
              </a:rPr>
              <a:t> Su trabajo parte de una idea central: los jóvenes usan tecnología constantemente, pero pocas veces entienden cómo funciona realmente.</a:t>
            </a:r>
          </a:p>
          <a:p>
            <a:pPr algn="l">
              <a:lnSpc>
                <a:spcPts val="3719"/>
              </a:lnSpc>
            </a:pPr>
          </a:p>
          <a:p>
            <a:pPr algn="l">
              <a:lnSpc>
                <a:spcPts val="371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221697" y="5650542"/>
            <a:ext cx="7723828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5193E"/>
                </a:solidFill>
                <a:latin typeface="Open Sans"/>
                <a:ea typeface="Open Sans"/>
                <a:cs typeface="Open Sans"/>
                <a:sym typeface="Open Sans"/>
              </a:rPr>
              <a:t>A través de sus charlas busca despertar curiosid</a:t>
            </a:r>
            <a:r>
              <a:rPr lang="en-US" sz="2499">
                <a:solidFill>
                  <a:srgbClr val="15193E"/>
                </a:solidFill>
                <a:latin typeface="Open Sans"/>
                <a:ea typeface="Open Sans"/>
                <a:cs typeface="Open Sans"/>
                <a:sym typeface="Open Sans"/>
              </a:rPr>
              <a:t>ad, desarrollar pensamiento crítico digital y mostrar que la tecnología no es solo para consumir, sino también para crear, aprender y construir oportunidades.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2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25388" y="1716698"/>
            <a:ext cx="1070406" cy="276506"/>
            <a:chOff x="0" y="0"/>
            <a:chExt cx="484642" cy="125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642" cy="125192"/>
            </a:xfrm>
            <a:custGeom>
              <a:avLst/>
              <a:gdLst/>
              <a:ahLst/>
              <a:cxnLst/>
              <a:rect r="r" b="b" t="t" l="l"/>
              <a:pathLst>
                <a:path h="125192" w="484642">
                  <a:moveTo>
                    <a:pt x="62596" y="0"/>
                  </a:moveTo>
                  <a:lnTo>
                    <a:pt x="422046" y="0"/>
                  </a:lnTo>
                  <a:cubicBezTo>
                    <a:pt x="456617" y="0"/>
                    <a:pt x="484642" y="28025"/>
                    <a:pt x="484642" y="62596"/>
                  </a:cubicBezTo>
                  <a:lnTo>
                    <a:pt x="484642" y="62596"/>
                  </a:lnTo>
                  <a:cubicBezTo>
                    <a:pt x="484642" y="97167"/>
                    <a:pt x="456617" y="125192"/>
                    <a:pt x="422046" y="125192"/>
                  </a:cubicBezTo>
                  <a:lnTo>
                    <a:pt x="62596" y="125192"/>
                  </a:lnTo>
                  <a:cubicBezTo>
                    <a:pt x="28025" y="125192"/>
                    <a:pt x="0" y="97167"/>
                    <a:pt x="0" y="62596"/>
                  </a:cubicBezTo>
                  <a:lnTo>
                    <a:pt x="0" y="62596"/>
                  </a:lnTo>
                  <a:cubicBezTo>
                    <a:pt x="0" y="28025"/>
                    <a:pt x="28025" y="0"/>
                    <a:pt x="62596" y="0"/>
                  </a:cubicBezTo>
                  <a:close/>
                </a:path>
              </a:pathLst>
            </a:custGeom>
            <a:solidFill>
              <a:srgbClr val="15193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4642" cy="134717"/>
            </a:xfrm>
            <a:prstGeom prst="rect">
              <a:avLst/>
            </a:prstGeom>
          </p:spPr>
          <p:txBody>
            <a:bodyPr anchor="ctr" rtlCol="false" tIns="31918" lIns="31918" bIns="31918" rIns="31918"/>
            <a:lstStyle/>
            <a:p>
              <a:pPr algn="ctr">
                <a:lnSpc>
                  <a:spcPts val="138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8431" y="-230885"/>
            <a:ext cx="18644862" cy="8466714"/>
          </a:xfrm>
          <a:custGeom>
            <a:avLst/>
            <a:gdLst/>
            <a:ahLst/>
            <a:cxnLst/>
            <a:rect r="r" b="b" t="t" l="l"/>
            <a:pathLst>
              <a:path h="8466714" w="18644862">
                <a:moveTo>
                  <a:pt x="0" y="0"/>
                </a:moveTo>
                <a:lnTo>
                  <a:pt x="18644862" y="0"/>
                </a:lnTo>
                <a:lnTo>
                  <a:pt x="18644862" y="8466714"/>
                </a:lnTo>
                <a:lnTo>
                  <a:pt x="0" y="8466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213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07825" y="1028700"/>
            <a:ext cx="16672349" cy="8229600"/>
            <a:chOff x="0" y="0"/>
            <a:chExt cx="4391071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072" cy="2167467"/>
            </a:xfrm>
            <a:custGeom>
              <a:avLst/>
              <a:gdLst/>
              <a:ahLst/>
              <a:cxnLst/>
              <a:rect r="r" b="b" t="t" l="l"/>
              <a:pathLst>
                <a:path h="2167467" w="4391072">
                  <a:moveTo>
                    <a:pt x="14859" y="0"/>
                  </a:moveTo>
                  <a:lnTo>
                    <a:pt x="4376212" y="0"/>
                  </a:lnTo>
                  <a:cubicBezTo>
                    <a:pt x="4380153" y="0"/>
                    <a:pt x="4383933" y="1566"/>
                    <a:pt x="4386719" y="4352"/>
                  </a:cubicBezTo>
                  <a:cubicBezTo>
                    <a:pt x="4389506" y="7139"/>
                    <a:pt x="4391072" y="10918"/>
                    <a:pt x="4391072" y="14859"/>
                  </a:cubicBezTo>
                  <a:lnTo>
                    <a:pt x="4391072" y="2152607"/>
                  </a:lnTo>
                  <a:cubicBezTo>
                    <a:pt x="4391072" y="2160814"/>
                    <a:pt x="4384419" y="2167467"/>
                    <a:pt x="4376212" y="2167467"/>
                  </a:cubicBezTo>
                  <a:lnTo>
                    <a:pt x="14859" y="2167467"/>
                  </a:lnTo>
                  <a:cubicBezTo>
                    <a:pt x="10918" y="2167467"/>
                    <a:pt x="7139" y="2165901"/>
                    <a:pt x="4352" y="2163114"/>
                  </a:cubicBezTo>
                  <a:cubicBezTo>
                    <a:pt x="1566" y="2160328"/>
                    <a:pt x="0" y="2156548"/>
                    <a:pt x="0" y="2152607"/>
                  </a:cubicBezTo>
                  <a:lnTo>
                    <a:pt x="0" y="14859"/>
                  </a:lnTo>
                  <a:cubicBezTo>
                    <a:pt x="0" y="10918"/>
                    <a:pt x="1566" y="7139"/>
                    <a:pt x="4352" y="4352"/>
                  </a:cubicBezTo>
                  <a:cubicBezTo>
                    <a:pt x="7139" y="1566"/>
                    <a:pt x="10918" y="0"/>
                    <a:pt x="14859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071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203917" y="1783373"/>
            <a:ext cx="11236217" cy="90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sz="6444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HISTORIA, INTRODUCCIÓN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97059" y="3419373"/>
            <a:ext cx="12528838" cy="47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3184" spc="21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EL MOMENTO EN QUE ENTENDÍ QUE EL FUTURO YA LLEGÓ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97059" y="6999278"/>
            <a:ext cx="5776012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FUE UNA SENSACIÓN CLARA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97059" y="5231782"/>
            <a:ext cx="9751975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NO FUE UNA SORPRESA TÉCNICA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97059" y="4337491"/>
            <a:ext cx="13658393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EN MARZO DE 2023 PROBÉ INTELIGENCIA ARTIFICIAL DE FORMA REAL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97059" y="7897314"/>
            <a:ext cx="10351525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AHORA SÍ ESTAMOS EN EL FUTURO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651470" y="-757964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2"/>
                </a:lnTo>
                <a:lnTo>
                  <a:pt x="0" y="2173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394806" y="659463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113293" y="8973379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027523" y="7552462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1"/>
                </a:lnTo>
                <a:lnTo>
                  <a:pt x="0" y="2173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2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25388" y="1716698"/>
            <a:ext cx="1070406" cy="276506"/>
            <a:chOff x="0" y="0"/>
            <a:chExt cx="484642" cy="125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642" cy="125192"/>
            </a:xfrm>
            <a:custGeom>
              <a:avLst/>
              <a:gdLst/>
              <a:ahLst/>
              <a:cxnLst/>
              <a:rect r="r" b="b" t="t" l="l"/>
              <a:pathLst>
                <a:path h="125192" w="484642">
                  <a:moveTo>
                    <a:pt x="62596" y="0"/>
                  </a:moveTo>
                  <a:lnTo>
                    <a:pt x="422046" y="0"/>
                  </a:lnTo>
                  <a:cubicBezTo>
                    <a:pt x="456617" y="0"/>
                    <a:pt x="484642" y="28025"/>
                    <a:pt x="484642" y="62596"/>
                  </a:cubicBezTo>
                  <a:lnTo>
                    <a:pt x="484642" y="62596"/>
                  </a:lnTo>
                  <a:cubicBezTo>
                    <a:pt x="484642" y="97167"/>
                    <a:pt x="456617" y="125192"/>
                    <a:pt x="422046" y="125192"/>
                  </a:cubicBezTo>
                  <a:lnTo>
                    <a:pt x="62596" y="125192"/>
                  </a:lnTo>
                  <a:cubicBezTo>
                    <a:pt x="28025" y="125192"/>
                    <a:pt x="0" y="97167"/>
                    <a:pt x="0" y="62596"/>
                  </a:cubicBezTo>
                  <a:lnTo>
                    <a:pt x="0" y="62596"/>
                  </a:lnTo>
                  <a:cubicBezTo>
                    <a:pt x="0" y="28025"/>
                    <a:pt x="28025" y="0"/>
                    <a:pt x="62596" y="0"/>
                  </a:cubicBezTo>
                  <a:close/>
                </a:path>
              </a:pathLst>
            </a:custGeom>
            <a:solidFill>
              <a:srgbClr val="15193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4642" cy="134717"/>
            </a:xfrm>
            <a:prstGeom prst="rect">
              <a:avLst/>
            </a:prstGeom>
          </p:spPr>
          <p:txBody>
            <a:bodyPr anchor="ctr" rtlCol="false" tIns="31918" lIns="31918" bIns="31918" rIns="31918"/>
            <a:lstStyle/>
            <a:p>
              <a:pPr algn="ctr">
                <a:lnSpc>
                  <a:spcPts val="138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8431" y="-230885"/>
            <a:ext cx="18644862" cy="8466714"/>
          </a:xfrm>
          <a:custGeom>
            <a:avLst/>
            <a:gdLst/>
            <a:ahLst/>
            <a:cxnLst/>
            <a:rect r="r" b="b" t="t" l="l"/>
            <a:pathLst>
              <a:path h="8466714" w="18644862">
                <a:moveTo>
                  <a:pt x="0" y="0"/>
                </a:moveTo>
                <a:lnTo>
                  <a:pt x="18644862" y="0"/>
                </a:lnTo>
                <a:lnTo>
                  <a:pt x="18644862" y="8466714"/>
                </a:lnTo>
                <a:lnTo>
                  <a:pt x="0" y="8466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213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07825" y="1028700"/>
            <a:ext cx="16672349" cy="8229600"/>
            <a:chOff x="0" y="0"/>
            <a:chExt cx="4391071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072" cy="2167467"/>
            </a:xfrm>
            <a:custGeom>
              <a:avLst/>
              <a:gdLst/>
              <a:ahLst/>
              <a:cxnLst/>
              <a:rect r="r" b="b" t="t" l="l"/>
              <a:pathLst>
                <a:path h="2167467" w="4391072">
                  <a:moveTo>
                    <a:pt x="14859" y="0"/>
                  </a:moveTo>
                  <a:lnTo>
                    <a:pt x="4376212" y="0"/>
                  </a:lnTo>
                  <a:cubicBezTo>
                    <a:pt x="4380153" y="0"/>
                    <a:pt x="4383933" y="1566"/>
                    <a:pt x="4386719" y="4352"/>
                  </a:cubicBezTo>
                  <a:cubicBezTo>
                    <a:pt x="4389506" y="7139"/>
                    <a:pt x="4391072" y="10918"/>
                    <a:pt x="4391072" y="14859"/>
                  </a:cubicBezTo>
                  <a:lnTo>
                    <a:pt x="4391072" y="2152607"/>
                  </a:lnTo>
                  <a:cubicBezTo>
                    <a:pt x="4391072" y="2160814"/>
                    <a:pt x="4384419" y="2167467"/>
                    <a:pt x="4376212" y="2167467"/>
                  </a:cubicBezTo>
                  <a:lnTo>
                    <a:pt x="14859" y="2167467"/>
                  </a:lnTo>
                  <a:cubicBezTo>
                    <a:pt x="10918" y="2167467"/>
                    <a:pt x="7139" y="2165901"/>
                    <a:pt x="4352" y="2163114"/>
                  </a:cubicBezTo>
                  <a:cubicBezTo>
                    <a:pt x="1566" y="2160328"/>
                    <a:pt x="0" y="2156548"/>
                    <a:pt x="0" y="2152607"/>
                  </a:cubicBezTo>
                  <a:lnTo>
                    <a:pt x="0" y="14859"/>
                  </a:lnTo>
                  <a:cubicBezTo>
                    <a:pt x="0" y="10918"/>
                    <a:pt x="1566" y="7139"/>
                    <a:pt x="4352" y="4352"/>
                  </a:cubicBezTo>
                  <a:cubicBezTo>
                    <a:pt x="7139" y="1566"/>
                    <a:pt x="10918" y="0"/>
                    <a:pt x="14859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071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203917" y="1783373"/>
            <a:ext cx="11236217" cy="90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sz="6444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HISTORIA, DESARROLLO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97059" y="3419373"/>
            <a:ext cx="12528838" cy="47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3184" spc="21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MUNDO EMPRESARIAL EMPEZABA A MOVERSE RÁPIDO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97059" y="6999278"/>
            <a:ext cx="5776012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NO ERA FALTA DE ACCESO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97059" y="5231782"/>
            <a:ext cx="14062241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LA MAYORÍA DE LAS PERSONAS NO ENTENDÍA LO QUE ESTABA VIENDO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97059" y="4337491"/>
            <a:ext cx="13658393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FUERA DE AHÍ PASABA ALGO DISTINTO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97059" y="7897314"/>
            <a:ext cx="10351525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ERA FALTA DE COMPRENSIÓN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97059" y="6101242"/>
            <a:ext cx="5776012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-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651470" y="-757964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2"/>
                </a:lnTo>
                <a:lnTo>
                  <a:pt x="0" y="2173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394806" y="659463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113293" y="8973379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027523" y="7552462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1"/>
                </a:lnTo>
                <a:lnTo>
                  <a:pt x="0" y="2173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2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25388" y="1716698"/>
            <a:ext cx="1070406" cy="276506"/>
            <a:chOff x="0" y="0"/>
            <a:chExt cx="484642" cy="125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642" cy="125192"/>
            </a:xfrm>
            <a:custGeom>
              <a:avLst/>
              <a:gdLst/>
              <a:ahLst/>
              <a:cxnLst/>
              <a:rect r="r" b="b" t="t" l="l"/>
              <a:pathLst>
                <a:path h="125192" w="484642">
                  <a:moveTo>
                    <a:pt x="62596" y="0"/>
                  </a:moveTo>
                  <a:lnTo>
                    <a:pt x="422046" y="0"/>
                  </a:lnTo>
                  <a:cubicBezTo>
                    <a:pt x="456617" y="0"/>
                    <a:pt x="484642" y="28025"/>
                    <a:pt x="484642" y="62596"/>
                  </a:cubicBezTo>
                  <a:lnTo>
                    <a:pt x="484642" y="62596"/>
                  </a:lnTo>
                  <a:cubicBezTo>
                    <a:pt x="484642" y="97167"/>
                    <a:pt x="456617" y="125192"/>
                    <a:pt x="422046" y="125192"/>
                  </a:cubicBezTo>
                  <a:lnTo>
                    <a:pt x="62596" y="125192"/>
                  </a:lnTo>
                  <a:cubicBezTo>
                    <a:pt x="28025" y="125192"/>
                    <a:pt x="0" y="97167"/>
                    <a:pt x="0" y="62596"/>
                  </a:cubicBezTo>
                  <a:lnTo>
                    <a:pt x="0" y="62596"/>
                  </a:lnTo>
                  <a:cubicBezTo>
                    <a:pt x="0" y="28025"/>
                    <a:pt x="28025" y="0"/>
                    <a:pt x="62596" y="0"/>
                  </a:cubicBezTo>
                  <a:close/>
                </a:path>
              </a:pathLst>
            </a:custGeom>
            <a:solidFill>
              <a:srgbClr val="15193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4642" cy="134717"/>
            </a:xfrm>
            <a:prstGeom prst="rect">
              <a:avLst/>
            </a:prstGeom>
          </p:spPr>
          <p:txBody>
            <a:bodyPr anchor="ctr" rtlCol="false" tIns="31918" lIns="31918" bIns="31918" rIns="31918"/>
            <a:lstStyle/>
            <a:p>
              <a:pPr algn="ctr">
                <a:lnSpc>
                  <a:spcPts val="138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8431" y="-230885"/>
            <a:ext cx="18644862" cy="8466714"/>
          </a:xfrm>
          <a:custGeom>
            <a:avLst/>
            <a:gdLst/>
            <a:ahLst/>
            <a:cxnLst/>
            <a:rect r="r" b="b" t="t" l="l"/>
            <a:pathLst>
              <a:path h="8466714" w="18644862">
                <a:moveTo>
                  <a:pt x="0" y="0"/>
                </a:moveTo>
                <a:lnTo>
                  <a:pt x="18644862" y="0"/>
                </a:lnTo>
                <a:lnTo>
                  <a:pt x="18644862" y="8466714"/>
                </a:lnTo>
                <a:lnTo>
                  <a:pt x="0" y="8466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213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07825" y="1028700"/>
            <a:ext cx="16672349" cy="8229600"/>
            <a:chOff x="0" y="0"/>
            <a:chExt cx="4391071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072" cy="2167467"/>
            </a:xfrm>
            <a:custGeom>
              <a:avLst/>
              <a:gdLst/>
              <a:ahLst/>
              <a:cxnLst/>
              <a:rect r="r" b="b" t="t" l="l"/>
              <a:pathLst>
                <a:path h="2167467" w="4391072">
                  <a:moveTo>
                    <a:pt x="14859" y="0"/>
                  </a:moveTo>
                  <a:lnTo>
                    <a:pt x="4376212" y="0"/>
                  </a:lnTo>
                  <a:cubicBezTo>
                    <a:pt x="4380153" y="0"/>
                    <a:pt x="4383933" y="1566"/>
                    <a:pt x="4386719" y="4352"/>
                  </a:cubicBezTo>
                  <a:cubicBezTo>
                    <a:pt x="4389506" y="7139"/>
                    <a:pt x="4391072" y="10918"/>
                    <a:pt x="4391072" y="14859"/>
                  </a:cubicBezTo>
                  <a:lnTo>
                    <a:pt x="4391072" y="2152607"/>
                  </a:lnTo>
                  <a:cubicBezTo>
                    <a:pt x="4391072" y="2160814"/>
                    <a:pt x="4384419" y="2167467"/>
                    <a:pt x="4376212" y="2167467"/>
                  </a:cubicBezTo>
                  <a:lnTo>
                    <a:pt x="14859" y="2167467"/>
                  </a:lnTo>
                  <a:cubicBezTo>
                    <a:pt x="10918" y="2167467"/>
                    <a:pt x="7139" y="2165901"/>
                    <a:pt x="4352" y="2163114"/>
                  </a:cubicBezTo>
                  <a:cubicBezTo>
                    <a:pt x="1566" y="2160328"/>
                    <a:pt x="0" y="2156548"/>
                    <a:pt x="0" y="2152607"/>
                  </a:cubicBezTo>
                  <a:lnTo>
                    <a:pt x="0" y="14859"/>
                  </a:lnTo>
                  <a:cubicBezTo>
                    <a:pt x="0" y="10918"/>
                    <a:pt x="1566" y="7139"/>
                    <a:pt x="4352" y="4352"/>
                  </a:cubicBezTo>
                  <a:cubicBezTo>
                    <a:pt x="7139" y="1566"/>
                    <a:pt x="10918" y="0"/>
                    <a:pt x="14859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071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203917" y="1783373"/>
            <a:ext cx="11236217" cy="90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sz="6444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HISTORIA, PERSPECTIVA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97059" y="3419373"/>
            <a:ext cx="12528838" cy="47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3184" spc="21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DESDE UNA FORMACIÓN AUTODIDACTA Y UNA FORMA DE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97059" y="5231782"/>
            <a:ext cx="14062241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NO SOLO ESTAMOS USANDO TECNOLOGÍA SIN ENTENDERLA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97059" y="4337491"/>
            <a:ext cx="14825938" cy="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PENSAR BASADA EN CUESTIONAR LO DIGITAL,EMPECÉ A NOTAR ALGO INCÓMODO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97059" y="6101242"/>
            <a:ext cx="12371061" cy="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ESTAMOS CONSTRUYENDO NUESTRA VIDA SOBRE SISTEMAS QUE NO COMPRENDEMOS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651470" y="-757964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2"/>
                </a:lnTo>
                <a:lnTo>
                  <a:pt x="0" y="2173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394806" y="659463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113293" y="8973379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027523" y="7552462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1"/>
                </a:lnTo>
                <a:lnTo>
                  <a:pt x="0" y="2173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2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25388" y="1716698"/>
            <a:ext cx="1070406" cy="276506"/>
            <a:chOff x="0" y="0"/>
            <a:chExt cx="484642" cy="125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642" cy="125192"/>
            </a:xfrm>
            <a:custGeom>
              <a:avLst/>
              <a:gdLst/>
              <a:ahLst/>
              <a:cxnLst/>
              <a:rect r="r" b="b" t="t" l="l"/>
              <a:pathLst>
                <a:path h="125192" w="484642">
                  <a:moveTo>
                    <a:pt x="62596" y="0"/>
                  </a:moveTo>
                  <a:lnTo>
                    <a:pt x="422046" y="0"/>
                  </a:lnTo>
                  <a:cubicBezTo>
                    <a:pt x="456617" y="0"/>
                    <a:pt x="484642" y="28025"/>
                    <a:pt x="484642" y="62596"/>
                  </a:cubicBezTo>
                  <a:lnTo>
                    <a:pt x="484642" y="62596"/>
                  </a:lnTo>
                  <a:cubicBezTo>
                    <a:pt x="484642" y="97167"/>
                    <a:pt x="456617" y="125192"/>
                    <a:pt x="422046" y="125192"/>
                  </a:cubicBezTo>
                  <a:lnTo>
                    <a:pt x="62596" y="125192"/>
                  </a:lnTo>
                  <a:cubicBezTo>
                    <a:pt x="28025" y="125192"/>
                    <a:pt x="0" y="97167"/>
                    <a:pt x="0" y="62596"/>
                  </a:cubicBezTo>
                  <a:lnTo>
                    <a:pt x="0" y="62596"/>
                  </a:lnTo>
                  <a:cubicBezTo>
                    <a:pt x="0" y="28025"/>
                    <a:pt x="28025" y="0"/>
                    <a:pt x="62596" y="0"/>
                  </a:cubicBezTo>
                  <a:close/>
                </a:path>
              </a:pathLst>
            </a:custGeom>
            <a:solidFill>
              <a:srgbClr val="15193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4642" cy="134717"/>
            </a:xfrm>
            <a:prstGeom prst="rect">
              <a:avLst/>
            </a:prstGeom>
          </p:spPr>
          <p:txBody>
            <a:bodyPr anchor="ctr" rtlCol="false" tIns="31918" lIns="31918" bIns="31918" rIns="31918"/>
            <a:lstStyle/>
            <a:p>
              <a:pPr algn="ctr">
                <a:lnSpc>
                  <a:spcPts val="138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8431" y="-230885"/>
            <a:ext cx="18644862" cy="8466714"/>
          </a:xfrm>
          <a:custGeom>
            <a:avLst/>
            <a:gdLst/>
            <a:ahLst/>
            <a:cxnLst/>
            <a:rect r="r" b="b" t="t" l="l"/>
            <a:pathLst>
              <a:path h="8466714" w="18644862">
                <a:moveTo>
                  <a:pt x="0" y="0"/>
                </a:moveTo>
                <a:lnTo>
                  <a:pt x="18644862" y="0"/>
                </a:lnTo>
                <a:lnTo>
                  <a:pt x="18644862" y="8466714"/>
                </a:lnTo>
                <a:lnTo>
                  <a:pt x="0" y="8466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213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07825" y="1028700"/>
            <a:ext cx="16672349" cy="8229600"/>
            <a:chOff x="0" y="0"/>
            <a:chExt cx="4391071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072" cy="2167467"/>
            </a:xfrm>
            <a:custGeom>
              <a:avLst/>
              <a:gdLst/>
              <a:ahLst/>
              <a:cxnLst/>
              <a:rect r="r" b="b" t="t" l="l"/>
              <a:pathLst>
                <a:path h="2167467" w="4391072">
                  <a:moveTo>
                    <a:pt x="14859" y="0"/>
                  </a:moveTo>
                  <a:lnTo>
                    <a:pt x="4376212" y="0"/>
                  </a:lnTo>
                  <a:cubicBezTo>
                    <a:pt x="4380153" y="0"/>
                    <a:pt x="4383933" y="1566"/>
                    <a:pt x="4386719" y="4352"/>
                  </a:cubicBezTo>
                  <a:cubicBezTo>
                    <a:pt x="4389506" y="7139"/>
                    <a:pt x="4391072" y="10918"/>
                    <a:pt x="4391072" y="14859"/>
                  </a:cubicBezTo>
                  <a:lnTo>
                    <a:pt x="4391072" y="2152607"/>
                  </a:lnTo>
                  <a:cubicBezTo>
                    <a:pt x="4391072" y="2160814"/>
                    <a:pt x="4384419" y="2167467"/>
                    <a:pt x="4376212" y="2167467"/>
                  </a:cubicBezTo>
                  <a:lnTo>
                    <a:pt x="14859" y="2167467"/>
                  </a:lnTo>
                  <a:cubicBezTo>
                    <a:pt x="10918" y="2167467"/>
                    <a:pt x="7139" y="2165901"/>
                    <a:pt x="4352" y="2163114"/>
                  </a:cubicBezTo>
                  <a:cubicBezTo>
                    <a:pt x="1566" y="2160328"/>
                    <a:pt x="0" y="2156548"/>
                    <a:pt x="0" y="2152607"/>
                  </a:cubicBezTo>
                  <a:lnTo>
                    <a:pt x="0" y="14859"/>
                  </a:lnTo>
                  <a:cubicBezTo>
                    <a:pt x="0" y="10918"/>
                    <a:pt x="1566" y="7139"/>
                    <a:pt x="4352" y="4352"/>
                  </a:cubicBezTo>
                  <a:cubicBezTo>
                    <a:pt x="7139" y="1566"/>
                    <a:pt x="10918" y="0"/>
                    <a:pt x="14859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071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203917" y="1783373"/>
            <a:ext cx="11236217" cy="90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sz="6444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HISTORIA, DECISIÓN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97059" y="3419373"/>
            <a:ext cx="12528838" cy="47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3184" spc="21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EN ESE MOMENTO ENTENDÍ ALGO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97059" y="6999278"/>
            <a:ext cx="6829197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Y DECIDÍ HACER ALGO DISTINTO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97059" y="5231782"/>
            <a:ext cx="14062241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PERO SU USO ES PRINCIPALMENTE COMERCIAL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97059" y="4337491"/>
            <a:ext cx="13658393" cy="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LA INTELIGENCIA ARTIFICIAL YA ES COMPLETAMENTE ACCESIBLE,</a:t>
            </a:r>
          </a:p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97059" y="7897314"/>
            <a:ext cx="10351525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EXPLICARLA DESDE UN ENFOQUE HUMANO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97059" y="6101242"/>
            <a:ext cx="5776012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-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651470" y="-757964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2"/>
                </a:lnTo>
                <a:lnTo>
                  <a:pt x="0" y="2173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394806" y="659463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113293" y="8973379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027523" y="7552462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1"/>
                </a:lnTo>
                <a:lnTo>
                  <a:pt x="0" y="2173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2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25388" y="1716698"/>
            <a:ext cx="1070406" cy="276506"/>
            <a:chOff x="0" y="0"/>
            <a:chExt cx="484642" cy="125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642" cy="125192"/>
            </a:xfrm>
            <a:custGeom>
              <a:avLst/>
              <a:gdLst/>
              <a:ahLst/>
              <a:cxnLst/>
              <a:rect r="r" b="b" t="t" l="l"/>
              <a:pathLst>
                <a:path h="125192" w="484642">
                  <a:moveTo>
                    <a:pt x="62596" y="0"/>
                  </a:moveTo>
                  <a:lnTo>
                    <a:pt x="422046" y="0"/>
                  </a:lnTo>
                  <a:cubicBezTo>
                    <a:pt x="456617" y="0"/>
                    <a:pt x="484642" y="28025"/>
                    <a:pt x="484642" y="62596"/>
                  </a:cubicBezTo>
                  <a:lnTo>
                    <a:pt x="484642" y="62596"/>
                  </a:lnTo>
                  <a:cubicBezTo>
                    <a:pt x="484642" y="97167"/>
                    <a:pt x="456617" y="125192"/>
                    <a:pt x="422046" y="125192"/>
                  </a:cubicBezTo>
                  <a:lnTo>
                    <a:pt x="62596" y="125192"/>
                  </a:lnTo>
                  <a:cubicBezTo>
                    <a:pt x="28025" y="125192"/>
                    <a:pt x="0" y="97167"/>
                    <a:pt x="0" y="62596"/>
                  </a:cubicBezTo>
                  <a:lnTo>
                    <a:pt x="0" y="62596"/>
                  </a:lnTo>
                  <a:cubicBezTo>
                    <a:pt x="0" y="28025"/>
                    <a:pt x="28025" y="0"/>
                    <a:pt x="62596" y="0"/>
                  </a:cubicBezTo>
                  <a:close/>
                </a:path>
              </a:pathLst>
            </a:custGeom>
            <a:solidFill>
              <a:srgbClr val="15193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4642" cy="134717"/>
            </a:xfrm>
            <a:prstGeom prst="rect">
              <a:avLst/>
            </a:prstGeom>
          </p:spPr>
          <p:txBody>
            <a:bodyPr anchor="ctr" rtlCol="false" tIns="31918" lIns="31918" bIns="31918" rIns="31918"/>
            <a:lstStyle/>
            <a:p>
              <a:pPr algn="ctr">
                <a:lnSpc>
                  <a:spcPts val="138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8431" y="-230885"/>
            <a:ext cx="18644862" cy="8466714"/>
          </a:xfrm>
          <a:custGeom>
            <a:avLst/>
            <a:gdLst/>
            <a:ahLst/>
            <a:cxnLst/>
            <a:rect r="r" b="b" t="t" l="l"/>
            <a:pathLst>
              <a:path h="8466714" w="18644862">
                <a:moveTo>
                  <a:pt x="0" y="0"/>
                </a:moveTo>
                <a:lnTo>
                  <a:pt x="18644862" y="0"/>
                </a:lnTo>
                <a:lnTo>
                  <a:pt x="18644862" y="8466714"/>
                </a:lnTo>
                <a:lnTo>
                  <a:pt x="0" y="8466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213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07825" y="1028700"/>
            <a:ext cx="16672349" cy="8229600"/>
            <a:chOff x="0" y="0"/>
            <a:chExt cx="4391071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072" cy="2167467"/>
            </a:xfrm>
            <a:custGeom>
              <a:avLst/>
              <a:gdLst/>
              <a:ahLst/>
              <a:cxnLst/>
              <a:rect r="r" b="b" t="t" l="l"/>
              <a:pathLst>
                <a:path h="2167467" w="4391072">
                  <a:moveTo>
                    <a:pt x="14859" y="0"/>
                  </a:moveTo>
                  <a:lnTo>
                    <a:pt x="4376212" y="0"/>
                  </a:lnTo>
                  <a:cubicBezTo>
                    <a:pt x="4380153" y="0"/>
                    <a:pt x="4383933" y="1566"/>
                    <a:pt x="4386719" y="4352"/>
                  </a:cubicBezTo>
                  <a:cubicBezTo>
                    <a:pt x="4389506" y="7139"/>
                    <a:pt x="4391072" y="10918"/>
                    <a:pt x="4391072" y="14859"/>
                  </a:cubicBezTo>
                  <a:lnTo>
                    <a:pt x="4391072" y="2152607"/>
                  </a:lnTo>
                  <a:cubicBezTo>
                    <a:pt x="4391072" y="2160814"/>
                    <a:pt x="4384419" y="2167467"/>
                    <a:pt x="4376212" y="2167467"/>
                  </a:cubicBezTo>
                  <a:lnTo>
                    <a:pt x="14859" y="2167467"/>
                  </a:lnTo>
                  <a:cubicBezTo>
                    <a:pt x="10918" y="2167467"/>
                    <a:pt x="7139" y="2165901"/>
                    <a:pt x="4352" y="2163114"/>
                  </a:cubicBezTo>
                  <a:cubicBezTo>
                    <a:pt x="1566" y="2160328"/>
                    <a:pt x="0" y="2156548"/>
                    <a:pt x="0" y="2152607"/>
                  </a:cubicBezTo>
                  <a:lnTo>
                    <a:pt x="0" y="14859"/>
                  </a:lnTo>
                  <a:cubicBezTo>
                    <a:pt x="0" y="10918"/>
                    <a:pt x="1566" y="7139"/>
                    <a:pt x="4352" y="4352"/>
                  </a:cubicBezTo>
                  <a:cubicBezTo>
                    <a:pt x="7139" y="1566"/>
                    <a:pt x="10918" y="0"/>
                    <a:pt x="14859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071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203917" y="1783373"/>
            <a:ext cx="11236217" cy="90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sz="6444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HISTORIA, MISIÓN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97059" y="3419373"/>
            <a:ext cx="12528838" cy="47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3184" spc="21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HOY MI OBJETIVO ES SIMPLE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97059" y="6999278"/>
            <a:ext cx="11424404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SINO QUE LA COMPRENDAN, LA CUESTIONEN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97059" y="7897314"/>
            <a:ext cx="10351525" cy="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Y LA UTILICEN PARA CREAR, APRENDER Y PENSAR MEJOR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97059" y="6101242"/>
            <a:ext cx="13002167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AYUDAR A QUE LOS JÓVENES NO SOLO USEN TECNOLOGÍA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651470" y="-757964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2"/>
                </a:lnTo>
                <a:lnTo>
                  <a:pt x="0" y="2173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394806" y="659463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113293" y="8973379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027523" y="7552462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1"/>
                </a:lnTo>
                <a:lnTo>
                  <a:pt x="0" y="2173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2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25388" y="1716698"/>
            <a:ext cx="1070406" cy="276506"/>
            <a:chOff x="0" y="0"/>
            <a:chExt cx="484642" cy="125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642" cy="125192"/>
            </a:xfrm>
            <a:custGeom>
              <a:avLst/>
              <a:gdLst/>
              <a:ahLst/>
              <a:cxnLst/>
              <a:rect r="r" b="b" t="t" l="l"/>
              <a:pathLst>
                <a:path h="125192" w="484642">
                  <a:moveTo>
                    <a:pt x="62596" y="0"/>
                  </a:moveTo>
                  <a:lnTo>
                    <a:pt x="422046" y="0"/>
                  </a:lnTo>
                  <a:cubicBezTo>
                    <a:pt x="456617" y="0"/>
                    <a:pt x="484642" y="28025"/>
                    <a:pt x="484642" y="62596"/>
                  </a:cubicBezTo>
                  <a:lnTo>
                    <a:pt x="484642" y="62596"/>
                  </a:lnTo>
                  <a:cubicBezTo>
                    <a:pt x="484642" y="97167"/>
                    <a:pt x="456617" y="125192"/>
                    <a:pt x="422046" y="125192"/>
                  </a:cubicBezTo>
                  <a:lnTo>
                    <a:pt x="62596" y="125192"/>
                  </a:lnTo>
                  <a:cubicBezTo>
                    <a:pt x="28025" y="125192"/>
                    <a:pt x="0" y="97167"/>
                    <a:pt x="0" y="62596"/>
                  </a:cubicBezTo>
                  <a:lnTo>
                    <a:pt x="0" y="62596"/>
                  </a:lnTo>
                  <a:cubicBezTo>
                    <a:pt x="0" y="28025"/>
                    <a:pt x="28025" y="0"/>
                    <a:pt x="62596" y="0"/>
                  </a:cubicBezTo>
                  <a:close/>
                </a:path>
              </a:pathLst>
            </a:custGeom>
            <a:solidFill>
              <a:srgbClr val="15193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4642" cy="134717"/>
            </a:xfrm>
            <a:prstGeom prst="rect">
              <a:avLst/>
            </a:prstGeom>
          </p:spPr>
          <p:txBody>
            <a:bodyPr anchor="ctr" rtlCol="false" tIns="31918" lIns="31918" bIns="31918" rIns="31918"/>
            <a:lstStyle/>
            <a:p>
              <a:pPr algn="ctr">
                <a:lnSpc>
                  <a:spcPts val="138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8431" y="-230885"/>
            <a:ext cx="18644862" cy="8466714"/>
          </a:xfrm>
          <a:custGeom>
            <a:avLst/>
            <a:gdLst/>
            <a:ahLst/>
            <a:cxnLst/>
            <a:rect r="r" b="b" t="t" l="l"/>
            <a:pathLst>
              <a:path h="8466714" w="18644862">
                <a:moveTo>
                  <a:pt x="0" y="0"/>
                </a:moveTo>
                <a:lnTo>
                  <a:pt x="18644862" y="0"/>
                </a:lnTo>
                <a:lnTo>
                  <a:pt x="18644862" y="8466714"/>
                </a:lnTo>
                <a:lnTo>
                  <a:pt x="0" y="8466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213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07825" y="1028700"/>
            <a:ext cx="16672349" cy="8229600"/>
            <a:chOff x="0" y="0"/>
            <a:chExt cx="4391071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072" cy="2167467"/>
            </a:xfrm>
            <a:custGeom>
              <a:avLst/>
              <a:gdLst/>
              <a:ahLst/>
              <a:cxnLst/>
              <a:rect r="r" b="b" t="t" l="l"/>
              <a:pathLst>
                <a:path h="2167467" w="4391072">
                  <a:moveTo>
                    <a:pt x="14859" y="0"/>
                  </a:moveTo>
                  <a:lnTo>
                    <a:pt x="4376212" y="0"/>
                  </a:lnTo>
                  <a:cubicBezTo>
                    <a:pt x="4380153" y="0"/>
                    <a:pt x="4383933" y="1566"/>
                    <a:pt x="4386719" y="4352"/>
                  </a:cubicBezTo>
                  <a:cubicBezTo>
                    <a:pt x="4389506" y="7139"/>
                    <a:pt x="4391072" y="10918"/>
                    <a:pt x="4391072" y="14859"/>
                  </a:cubicBezTo>
                  <a:lnTo>
                    <a:pt x="4391072" y="2152607"/>
                  </a:lnTo>
                  <a:cubicBezTo>
                    <a:pt x="4391072" y="2160814"/>
                    <a:pt x="4384419" y="2167467"/>
                    <a:pt x="4376212" y="2167467"/>
                  </a:cubicBezTo>
                  <a:lnTo>
                    <a:pt x="14859" y="2167467"/>
                  </a:lnTo>
                  <a:cubicBezTo>
                    <a:pt x="10918" y="2167467"/>
                    <a:pt x="7139" y="2165901"/>
                    <a:pt x="4352" y="2163114"/>
                  </a:cubicBezTo>
                  <a:cubicBezTo>
                    <a:pt x="1566" y="2160328"/>
                    <a:pt x="0" y="2156548"/>
                    <a:pt x="0" y="2152607"/>
                  </a:cubicBezTo>
                  <a:lnTo>
                    <a:pt x="0" y="14859"/>
                  </a:lnTo>
                  <a:cubicBezTo>
                    <a:pt x="0" y="10918"/>
                    <a:pt x="1566" y="7139"/>
                    <a:pt x="4352" y="4352"/>
                  </a:cubicBezTo>
                  <a:cubicBezTo>
                    <a:pt x="7139" y="1566"/>
                    <a:pt x="10918" y="0"/>
                    <a:pt x="14859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071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203917" y="1783373"/>
            <a:ext cx="11236217" cy="90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sz="6444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QUÉ SE ENSEÑA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97059" y="3419373"/>
            <a:ext cx="12528838" cy="47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3184" spc="21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CÓMO FUNCIONA REALMENTE INTERNET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97059" y="6999278"/>
            <a:ext cx="5776012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AMOR POR APRENDER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97059" y="5231782"/>
            <a:ext cx="14062241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QUÉ ES LA INTELIGENCIA ARTIFICIAL Y CÓMO USARLA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97059" y="4337491"/>
            <a:ext cx="13658393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CÓMO OPERAN LOS ALGORITMOS QUE CONSUMEN A DIARIO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97059" y="7897314"/>
            <a:ext cx="10351525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-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97059" y="6101242"/>
            <a:ext cx="11250850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CÓMO DESARROLLAR PENSAMIENTO CRÍTICO DIGITAL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651470" y="-757964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2"/>
                </a:lnTo>
                <a:lnTo>
                  <a:pt x="0" y="2173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394806" y="659463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113293" y="8973379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027523" y="7552462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1"/>
                </a:lnTo>
                <a:lnTo>
                  <a:pt x="0" y="2173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973070" y="1795001"/>
            <a:ext cx="8059821" cy="118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  <a:spcBef>
                <a:spcPct val="0"/>
              </a:spcBef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POR QUÉ</a:t>
            </a: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ENTENDER TECNOLOGÍA YA ES UNA HABILIDAD FUNDAMENTAL</a:t>
            </a:r>
          </a:p>
          <a:p>
            <a:pPr algn="ctr">
              <a:lnSpc>
                <a:spcPts val="297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2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25388" y="1716698"/>
            <a:ext cx="1070406" cy="276506"/>
            <a:chOff x="0" y="0"/>
            <a:chExt cx="484642" cy="125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642" cy="125192"/>
            </a:xfrm>
            <a:custGeom>
              <a:avLst/>
              <a:gdLst/>
              <a:ahLst/>
              <a:cxnLst/>
              <a:rect r="r" b="b" t="t" l="l"/>
              <a:pathLst>
                <a:path h="125192" w="484642">
                  <a:moveTo>
                    <a:pt x="62596" y="0"/>
                  </a:moveTo>
                  <a:lnTo>
                    <a:pt x="422046" y="0"/>
                  </a:lnTo>
                  <a:cubicBezTo>
                    <a:pt x="456617" y="0"/>
                    <a:pt x="484642" y="28025"/>
                    <a:pt x="484642" y="62596"/>
                  </a:cubicBezTo>
                  <a:lnTo>
                    <a:pt x="484642" y="62596"/>
                  </a:lnTo>
                  <a:cubicBezTo>
                    <a:pt x="484642" y="97167"/>
                    <a:pt x="456617" y="125192"/>
                    <a:pt x="422046" y="125192"/>
                  </a:cubicBezTo>
                  <a:lnTo>
                    <a:pt x="62596" y="125192"/>
                  </a:lnTo>
                  <a:cubicBezTo>
                    <a:pt x="28025" y="125192"/>
                    <a:pt x="0" y="97167"/>
                    <a:pt x="0" y="62596"/>
                  </a:cubicBezTo>
                  <a:lnTo>
                    <a:pt x="0" y="62596"/>
                  </a:lnTo>
                  <a:cubicBezTo>
                    <a:pt x="0" y="28025"/>
                    <a:pt x="28025" y="0"/>
                    <a:pt x="62596" y="0"/>
                  </a:cubicBezTo>
                  <a:close/>
                </a:path>
              </a:pathLst>
            </a:custGeom>
            <a:solidFill>
              <a:srgbClr val="15193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4642" cy="134717"/>
            </a:xfrm>
            <a:prstGeom prst="rect">
              <a:avLst/>
            </a:prstGeom>
          </p:spPr>
          <p:txBody>
            <a:bodyPr anchor="ctr" rtlCol="false" tIns="31918" lIns="31918" bIns="31918" rIns="31918"/>
            <a:lstStyle/>
            <a:p>
              <a:pPr algn="ctr">
                <a:lnSpc>
                  <a:spcPts val="138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8431" y="-230885"/>
            <a:ext cx="18644862" cy="8466714"/>
          </a:xfrm>
          <a:custGeom>
            <a:avLst/>
            <a:gdLst/>
            <a:ahLst/>
            <a:cxnLst/>
            <a:rect r="r" b="b" t="t" l="l"/>
            <a:pathLst>
              <a:path h="8466714" w="18644862">
                <a:moveTo>
                  <a:pt x="0" y="0"/>
                </a:moveTo>
                <a:lnTo>
                  <a:pt x="18644862" y="0"/>
                </a:lnTo>
                <a:lnTo>
                  <a:pt x="18644862" y="8466714"/>
                </a:lnTo>
                <a:lnTo>
                  <a:pt x="0" y="8466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213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07825" y="1028700"/>
            <a:ext cx="16672349" cy="8229600"/>
            <a:chOff x="0" y="0"/>
            <a:chExt cx="4391071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072" cy="2167467"/>
            </a:xfrm>
            <a:custGeom>
              <a:avLst/>
              <a:gdLst/>
              <a:ahLst/>
              <a:cxnLst/>
              <a:rect r="r" b="b" t="t" l="l"/>
              <a:pathLst>
                <a:path h="2167467" w="4391072">
                  <a:moveTo>
                    <a:pt x="14859" y="0"/>
                  </a:moveTo>
                  <a:lnTo>
                    <a:pt x="4376212" y="0"/>
                  </a:lnTo>
                  <a:cubicBezTo>
                    <a:pt x="4380153" y="0"/>
                    <a:pt x="4383933" y="1566"/>
                    <a:pt x="4386719" y="4352"/>
                  </a:cubicBezTo>
                  <a:cubicBezTo>
                    <a:pt x="4389506" y="7139"/>
                    <a:pt x="4391072" y="10918"/>
                    <a:pt x="4391072" y="14859"/>
                  </a:cubicBezTo>
                  <a:lnTo>
                    <a:pt x="4391072" y="2152607"/>
                  </a:lnTo>
                  <a:cubicBezTo>
                    <a:pt x="4391072" y="2160814"/>
                    <a:pt x="4384419" y="2167467"/>
                    <a:pt x="4376212" y="2167467"/>
                  </a:cubicBezTo>
                  <a:lnTo>
                    <a:pt x="14859" y="2167467"/>
                  </a:lnTo>
                  <a:cubicBezTo>
                    <a:pt x="10918" y="2167467"/>
                    <a:pt x="7139" y="2165901"/>
                    <a:pt x="4352" y="2163114"/>
                  </a:cubicBezTo>
                  <a:cubicBezTo>
                    <a:pt x="1566" y="2160328"/>
                    <a:pt x="0" y="2156548"/>
                    <a:pt x="0" y="2152607"/>
                  </a:cubicBezTo>
                  <a:lnTo>
                    <a:pt x="0" y="14859"/>
                  </a:lnTo>
                  <a:cubicBezTo>
                    <a:pt x="0" y="10918"/>
                    <a:pt x="1566" y="7139"/>
                    <a:pt x="4352" y="4352"/>
                  </a:cubicBezTo>
                  <a:cubicBezTo>
                    <a:pt x="7139" y="1566"/>
                    <a:pt x="10918" y="0"/>
                    <a:pt x="14859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071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203917" y="1783373"/>
            <a:ext cx="11236217" cy="90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sz="6444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CÓMO SE ENSEÑA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97059" y="3419373"/>
            <a:ext cx="12528838" cy="47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3184" spc="21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EXPLICACIONES CLARAS CON EJEMPLOS REALES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97059" y="6999278"/>
            <a:ext cx="11771511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EXPLICACIONES SIMPLES DE SISTEMAS COMPLEJOS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97059" y="5231782"/>
            <a:ext cx="14062241" cy="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CÓMO LOS ALGORITMOS INFLUYEN EN LO QUE VEN, PIENSAN Y CONSUMEN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97059" y="4337491"/>
            <a:ext cx="13658393" cy="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CÓMO FUNCIONA REALMENTE EL MUNDO DIGITAL QUE USAN TODOS LOS DÍAS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97059" y="7897314"/>
            <a:ext cx="10351525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-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97059" y="6101242"/>
            <a:ext cx="11250850" cy="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PARTICIPACIÓN ACTIVA DURANTE LA CHARLA</a:t>
            </a:r>
          </a:p>
          <a:p>
            <a:pPr algn="l">
              <a:lnSpc>
                <a:spcPts val="2970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651470" y="-757964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2"/>
                </a:lnTo>
                <a:lnTo>
                  <a:pt x="0" y="2173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394806" y="659463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113293" y="8973379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027523" y="7552462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1"/>
                </a:lnTo>
                <a:lnTo>
                  <a:pt x="0" y="2173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2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25388" y="1716698"/>
            <a:ext cx="1070406" cy="276506"/>
            <a:chOff x="0" y="0"/>
            <a:chExt cx="484642" cy="125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642" cy="125192"/>
            </a:xfrm>
            <a:custGeom>
              <a:avLst/>
              <a:gdLst/>
              <a:ahLst/>
              <a:cxnLst/>
              <a:rect r="r" b="b" t="t" l="l"/>
              <a:pathLst>
                <a:path h="125192" w="484642">
                  <a:moveTo>
                    <a:pt x="62596" y="0"/>
                  </a:moveTo>
                  <a:lnTo>
                    <a:pt x="422046" y="0"/>
                  </a:lnTo>
                  <a:cubicBezTo>
                    <a:pt x="456617" y="0"/>
                    <a:pt x="484642" y="28025"/>
                    <a:pt x="484642" y="62596"/>
                  </a:cubicBezTo>
                  <a:lnTo>
                    <a:pt x="484642" y="62596"/>
                  </a:lnTo>
                  <a:cubicBezTo>
                    <a:pt x="484642" y="97167"/>
                    <a:pt x="456617" y="125192"/>
                    <a:pt x="422046" y="125192"/>
                  </a:cubicBezTo>
                  <a:lnTo>
                    <a:pt x="62596" y="125192"/>
                  </a:lnTo>
                  <a:cubicBezTo>
                    <a:pt x="28025" y="125192"/>
                    <a:pt x="0" y="97167"/>
                    <a:pt x="0" y="62596"/>
                  </a:cubicBezTo>
                  <a:lnTo>
                    <a:pt x="0" y="62596"/>
                  </a:lnTo>
                  <a:cubicBezTo>
                    <a:pt x="0" y="28025"/>
                    <a:pt x="28025" y="0"/>
                    <a:pt x="62596" y="0"/>
                  </a:cubicBezTo>
                  <a:close/>
                </a:path>
              </a:pathLst>
            </a:custGeom>
            <a:solidFill>
              <a:srgbClr val="15193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4642" cy="134717"/>
            </a:xfrm>
            <a:prstGeom prst="rect">
              <a:avLst/>
            </a:prstGeom>
          </p:spPr>
          <p:txBody>
            <a:bodyPr anchor="ctr" rtlCol="false" tIns="31918" lIns="31918" bIns="31918" rIns="31918"/>
            <a:lstStyle/>
            <a:p>
              <a:pPr algn="ctr">
                <a:lnSpc>
                  <a:spcPts val="138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8431" y="-230885"/>
            <a:ext cx="18644862" cy="8466714"/>
          </a:xfrm>
          <a:custGeom>
            <a:avLst/>
            <a:gdLst/>
            <a:ahLst/>
            <a:cxnLst/>
            <a:rect r="r" b="b" t="t" l="l"/>
            <a:pathLst>
              <a:path h="8466714" w="18644862">
                <a:moveTo>
                  <a:pt x="0" y="0"/>
                </a:moveTo>
                <a:lnTo>
                  <a:pt x="18644862" y="0"/>
                </a:lnTo>
                <a:lnTo>
                  <a:pt x="18644862" y="8466714"/>
                </a:lnTo>
                <a:lnTo>
                  <a:pt x="0" y="8466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213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07825" y="1028700"/>
            <a:ext cx="16672349" cy="8229600"/>
            <a:chOff x="0" y="0"/>
            <a:chExt cx="4391071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072" cy="2167467"/>
            </a:xfrm>
            <a:custGeom>
              <a:avLst/>
              <a:gdLst/>
              <a:ahLst/>
              <a:cxnLst/>
              <a:rect r="r" b="b" t="t" l="l"/>
              <a:pathLst>
                <a:path h="2167467" w="4391072">
                  <a:moveTo>
                    <a:pt x="14859" y="0"/>
                  </a:moveTo>
                  <a:lnTo>
                    <a:pt x="4376212" y="0"/>
                  </a:lnTo>
                  <a:cubicBezTo>
                    <a:pt x="4380153" y="0"/>
                    <a:pt x="4383933" y="1566"/>
                    <a:pt x="4386719" y="4352"/>
                  </a:cubicBezTo>
                  <a:cubicBezTo>
                    <a:pt x="4389506" y="7139"/>
                    <a:pt x="4391072" y="10918"/>
                    <a:pt x="4391072" y="14859"/>
                  </a:cubicBezTo>
                  <a:lnTo>
                    <a:pt x="4391072" y="2152607"/>
                  </a:lnTo>
                  <a:cubicBezTo>
                    <a:pt x="4391072" y="2160814"/>
                    <a:pt x="4384419" y="2167467"/>
                    <a:pt x="4376212" y="2167467"/>
                  </a:cubicBezTo>
                  <a:lnTo>
                    <a:pt x="14859" y="2167467"/>
                  </a:lnTo>
                  <a:cubicBezTo>
                    <a:pt x="10918" y="2167467"/>
                    <a:pt x="7139" y="2165901"/>
                    <a:pt x="4352" y="2163114"/>
                  </a:cubicBezTo>
                  <a:cubicBezTo>
                    <a:pt x="1566" y="2160328"/>
                    <a:pt x="0" y="2156548"/>
                    <a:pt x="0" y="2152607"/>
                  </a:cubicBezTo>
                  <a:lnTo>
                    <a:pt x="0" y="14859"/>
                  </a:lnTo>
                  <a:cubicBezTo>
                    <a:pt x="0" y="10918"/>
                    <a:pt x="1566" y="7139"/>
                    <a:pt x="4352" y="4352"/>
                  </a:cubicBezTo>
                  <a:cubicBezTo>
                    <a:pt x="7139" y="1566"/>
                    <a:pt x="10918" y="0"/>
                    <a:pt x="14859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071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203917" y="1783373"/>
            <a:ext cx="11236217" cy="90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sz="6444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QUÉ SE LLEVAN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97059" y="3419373"/>
            <a:ext cx="12528838" cy="47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3184" spc="21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ENTENDER MEJOR EL MUNDO DIGITAL EN EL QUE VIVEN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97059" y="6999278"/>
            <a:ext cx="13096832" cy="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HERRAMIENTAS INDISPENSABLES PARA SU, CADA VEZ MÁS CERCA, VIDA ADULTA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97059" y="5231782"/>
            <a:ext cx="14062241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VER LA TECNOLOGÍA COMO HERRAMIENTA PARA CREAR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97059" y="4337491"/>
            <a:ext cx="13658393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CUESTIONAR EL CONTENIDO QUE CONSUMEN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97059" y="7897314"/>
            <a:ext cx="11739956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QUÉ ES LA INTELIGENCIA ARTIFICIAL MÁS ALLÁ DEL HYPE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97059" y="6101242"/>
            <a:ext cx="13775271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NUEVAS FORMAS DE APRENDER USANDO INTELIGENCIA ARTIFICIAL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651470" y="-757964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2"/>
                </a:lnTo>
                <a:lnTo>
                  <a:pt x="0" y="2173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1394806" y="659463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113293" y="8973379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027523" y="7552462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1"/>
                </a:lnTo>
                <a:lnTo>
                  <a:pt x="0" y="2173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2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25388" y="1716698"/>
            <a:ext cx="1070406" cy="276506"/>
            <a:chOff x="0" y="0"/>
            <a:chExt cx="484642" cy="125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642" cy="125192"/>
            </a:xfrm>
            <a:custGeom>
              <a:avLst/>
              <a:gdLst/>
              <a:ahLst/>
              <a:cxnLst/>
              <a:rect r="r" b="b" t="t" l="l"/>
              <a:pathLst>
                <a:path h="125192" w="484642">
                  <a:moveTo>
                    <a:pt x="62596" y="0"/>
                  </a:moveTo>
                  <a:lnTo>
                    <a:pt x="422046" y="0"/>
                  </a:lnTo>
                  <a:cubicBezTo>
                    <a:pt x="456617" y="0"/>
                    <a:pt x="484642" y="28025"/>
                    <a:pt x="484642" y="62596"/>
                  </a:cubicBezTo>
                  <a:lnTo>
                    <a:pt x="484642" y="62596"/>
                  </a:lnTo>
                  <a:cubicBezTo>
                    <a:pt x="484642" y="97167"/>
                    <a:pt x="456617" y="125192"/>
                    <a:pt x="422046" y="125192"/>
                  </a:cubicBezTo>
                  <a:lnTo>
                    <a:pt x="62596" y="125192"/>
                  </a:lnTo>
                  <a:cubicBezTo>
                    <a:pt x="28025" y="125192"/>
                    <a:pt x="0" y="97167"/>
                    <a:pt x="0" y="62596"/>
                  </a:cubicBezTo>
                  <a:lnTo>
                    <a:pt x="0" y="62596"/>
                  </a:lnTo>
                  <a:cubicBezTo>
                    <a:pt x="0" y="28025"/>
                    <a:pt x="28025" y="0"/>
                    <a:pt x="62596" y="0"/>
                  </a:cubicBezTo>
                  <a:close/>
                </a:path>
              </a:pathLst>
            </a:custGeom>
            <a:solidFill>
              <a:srgbClr val="15193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4642" cy="134717"/>
            </a:xfrm>
            <a:prstGeom prst="rect">
              <a:avLst/>
            </a:prstGeom>
          </p:spPr>
          <p:txBody>
            <a:bodyPr anchor="ctr" rtlCol="false" tIns="31918" lIns="31918" bIns="31918" rIns="31918"/>
            <a:lstStyle/>
            <a:p>
              <a:pPr algn="ctr">
                <a:lnSpc>
                  <a:spcPts val="138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8431" y="-230885"/>
            <a:ext cx="18644862" cy="8466714"/>
          </a:xfrm>
          <a:custGeom>
            <a:avLst/>
            <a:gdLst/>
            <a:ahLst/>
            <a:cxnLst/>
            <a:rect r="r" b="b" t="t" l="l"/>
            <a:pathLst>
              <a:path h="8466714" w="18644862">
                <a:moveTo>
                  <a:pt x="0" y="0"/>
                </a:moveTo>
                <a:lnTo>
                  <a:pt x="18644862" y="0"/>
                </a:lnTo>
                <a:lnTo>
                  <a:pt x="18644862" y="8466714"/>
                </a:lnTo>
                <a:lnTo>
                  <a:pt x="0" y="8466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213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07825" y="1028700"/>
            <a:ext cx="16672349" cy="8229600"/>
            <a:chOff x="0" y="0"/>
            <a:chExt cx="4391071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072" cy="2167467"/>
            </a:xfrm>
            <a:custGeom>
              <a:avLst/>
              <a:gdLst/>
              <a:ahLst/>
              <a:cxnLst/>
              <a:rect r="r" b="b" t="t" l="l"/>
              <a:pathLst>
                <a:path h="2167467" w="4391072">
                  <a:moveTo>
                    <a:pt x="14859" y="0"/>
                  </a:moveTo>
                  <a:lnTo>
                    <a:pt x="4376212" y="0"/>
                  </a:lnTo>
                  <a:cubicBezTo>
                    <a:pt x="4380153" y="0"/>
                    <a:pt x="4383933" y="1566"/>
                    <a:pt x="4386719" y="4352"/>
                  </a:cubicBezTo>
                  <a:cubicBezTo>
                    <a:pt x="4389506" y="7139"/>
                    <a:pt x="4391072" y="10918"/>
                    <a:pt x="4391072" y="14859"/>
                  </a:cubicBezTo>
                  <a:lnTo>
                    <a:pt x="4391072" y="2152607"/>
                  </a:lnTo>
                  <a:cubicBezTo>
                    <a:pt x="4391072" y="2160814"/>
                    <a:pt x="4384419" y="2167467"/>
                    <a:pt x="4376212" y="2167467"/>
                  </a:cubicBezTo>
                  <a:lnTo>
                    <a:pt x="14859" y="2167467"/>
                  </a:lnTo>
                  <a:cubicBezTo>
                    <a:pt x="10918" y="2167467"/>
                    <a:pt x="7139" y="2165901"/>
                    <a:pt x="4352" y="2163114"/>
                  </a:cubicBezTo>
                  <a:cubicBezTo>
                    <a:pt x="1566" y="2160328"/>
                    <a:pt x="0" y="2156548"/>
                    <a:pt x="0" y="2152607"/>
                  </a:cubicBezTo>
                  <a:lnTo>
                    <a:pt x="0" y="14859"/>
                  </a:lnTo>
                  <a:cubicBezTo>
                    <a:pt x="0" y="10918"/>
                    <a:pt x="1566" y="7139"/>
                    <a:pt x="4352" y="4352"/>
                  </a:cubicBezTo>
                  <a:cubicBezTo>
                    <a:pt x="7139" y="1566"/>
                    <a:pt x="10918" y="0"/>
                    <a:pt x="14859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071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203917" y="1783373"/>
            <a:ext cx="11236217" cy="90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sz="6444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RESULTADOS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97059" y="3419373"/>
            <a:ext cx="12528838" cy="47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3184" spc="21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DEJAN DE VER LA TECNOLOGÍA COMO ALGO “MÁGICO”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97059" y="6999278"/>
            <a:ext cx="13096832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ENTIENDEN QUE PUEDEN CREAR, NO SOLO CONSUMIR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97059" y="5231782"/>
            <a:ext cx="14062241" cy="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DESCUBREN NUEVAS FORMAS DE APRENDER CON INTELIGENCIA ARTIFICIAL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97059" y="4337491"/>
            <a:ext cx="13658393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-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97059" y="6101242"/>
            <a:ext cx="13775271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-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651470" y="-757964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2"/>
                </a:lnTo>
                <a:lnTo>
                  <a:pt x="0" y="2173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394806" y="659463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113293" y="8973379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027523" y="7552462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1"/>
                </a:lnTo>
                <a:lnTo>
                  <a:pt x="0" y="2173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2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25388" y="1716698"/>
            <a:ext cx="1070406" cy="276506"/>
            <a:chOff x="0" y="0"/>
            <a:chExt cx="484642" cy="125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642" cy="125192"/>
            </a:xfrm>
            <a:custGeom>
              <a:avLst/>
              <a:gdLst/>
              <a:ahLst/>
              <a:cxnLst/>
              <a:rect r="r" b="b" t="t" l="l"/>
              <a:pathLst>
                <a:path h="125192" w="484642">
                  <a:moveTo>
                    <a:pt x="62596" y="0"/>
                  </a:moveTo>
                  <a:lnTo>
                    <a:pt x="422046" y="0"/>
                  </a:lnTo>
                  <a:cubicBezTo>
                    <a:pt x="456617" y="0"/>
                    <a:pt x="484642" y="28025"/>
                    <a:pt x="484642" y="62596"/>
                  </a:cubicBezTo>
                  <a:lnTo>
                    <a:pt x="484642" y="62596"/>
                  </a:lnTo>
                  <a:cubicBezTo>
                    <a:pt x="484642" y="97167"/>
                    <a:pt x="456617" y="125192"/>
                    <a:pt x="422046" y="125192"/>
                  </a:cubicBezTo>
                  <a:lnTo>
                    <a:pt x="62596" y="125192"/>
                  </a:lnTo>
                  <a:cubicBezTo>
                    <a:pt x="28025" y="125192"/>
                    <a:pt x="0" y="97167"/>
                    <a:pt x="0" y="62596"/>
                  </a:cubicBezTo>
                  <a:lnTo>
                    <a:pt x="0" y="62596"/>
                  </a:lnTo>
                  <a:cubicBezTo>
                    <a:pt x="0" y="28025"/>
                    <a:pt x="28025" y="0"/>
                    <a:pt x="62596" y="0"/>
                  </a:cubicBezTo>
                  <a:close/>
                </a:path>
              </a:pathLst>
            </a:custGeom>
            <a:solidFill>
              <a:srgbClr val="15193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4642" cy="134717"/>
            </a:xfrm>
            <a:prstGeom prst="rect">
              <a:avLst/>
            </a:prstGeom>
          </p:spPr>
          <p:txBody>
            <a:bodyPr anchor="ctr" rtlCol="false" tIns="31918" lIns="31918" bIns="31918" rIns="31918"/>
            <a:lstStyle/>
            <a:p>
              <a:pPr algn="ctr">
                <a:lnSpc>
                  <a:spcPts val="138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8431" y="-230885"/>
            <a:ext cx="18644862" cy="8466714"/>
          </a:xfrm>
          <a:custGeom>
            <a:avLst/>
            <a:gdLst/>
            <a:ahLst/>
            <a:cxnLst/>
            <a:rect r="r" b="b" t="t" l="l"/>
            <a:pathLst>
              <a:path h="8466714" w="18644862">
                <a:moveTo>
                  <a:pt x="0" y="0"/>
                </a:moveTo>
                <a:lnTo>
                  <a:pt x="18644862" y="0"/>
                </a:lnTo>
                <a:lnTo>
                  <a:pt x="18644862" y="8466714"/>
                </a:lnTo>
                <a:lnTo>
                  <a:pt x="0" y="8466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0213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07825" y="1028700"/>
            <a:ext cx="16672349" cy="8229600"/>
            <a:chOff x="0" y="0"/>
            <a:chExt cx="4391071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1072" cy="2167467"/>
            </a:xfrm>
            <a:custGeom>
              <a:avLst/>
              <a:gdLst/>
              <a:ahLst/>
              <a:cxnLst/>
              <a:rect r="r" b="b" t="t" l="l"/>
              <a:pathLst>
                <a:path h="2167467" w="4391072">
                  <a:moveTo>
                    <a:pt x="14859" y="0"/>
                  </a:moveTo>
                  <a:lnTo>
                    <a:pt x="4376212" y="0"/>
                  </a:lnTo>
                  <a:cubicBezTo>
                    <a:pt x="4380153" y="0"/>
                    <a:pt x="4383933" y="1566"/>
                    <a:pt x="4386719" y="4352"/>
                  </a:cubicBezTo>
                  <a:cubicBezTo>
                    <a:pt x="4389506" y="7139"/>
                    <a:pt x="4391072" y="10918"/>
                    <a:pt x="4391072" y="14859"/>
                  </a:cubicBezTo>
                  <a:lnTo>
                    <a:pt x="4391072" y="2152607"/>
                  </a:lnTo>
                  <a:cubicBezTo>
                    <a:pt x="4391072" y="2160814"/>
                    <a:pt x="4384419" y="2167467"/>
                    <a:pt x="4376212" y="2167467"/>
                  </a:cubicBezTo>
                  <a:lnTo>
                    <a:pt x="14859" y="2167467"/>
                  </a:lnTo>
                  <a:cubicBezTo>
                    <a:pt x="10918" y="2167467"/>
                    <a:pt x="7139" y="2165901"/>
                    <a:pt x="4352" y="2163114"/>
                  </a:cubicBezTo>
                  <a:cubicBezTo>
                    <a:pt x="1566" y="2160328"/>
                    <a:pt x="0" y="2156548"/>
                    <a:pt x="0" y="2152607"/>
                  </a:cubicBezTo>
                  <a:lnTo>
                    <a:pt x="0" y="14859"/>
                  </a:lnTo>
                  <a:cubicBezTo>
                    <a:pt x="0" y="10918"/>
                    <a:pt x="1566" y="7139"/>
                    <a:pt x="4352" y="4352"/>
                  </a:cubicBezTo>
                  <a:cubicBezTo>
                    <a:pt x="7139" y="1566"/>
                    <a:pt x="10918" y="0"/>
                    <a:pt x="14859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91071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203917" y="1783373"/>
            <a:ext cx="13255754" cy="243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sz="6444" b="true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EXTENSIÓN DEL APRENDIZAJE</a:t>
            </a:r>
          </a:p>
          <a:p>
            <a:pPr algn="l">
              <a:lnSpc>
                <a:spcPts val="6058"/>
              </a:lnSpc>
            </a:pPr>
          </a:p>
          <a:p>
            <a:pPr algn="l">
              <a:lnSpc>
                <a:spcPts val="605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197059" y="3419373"/>
            <a:ext cx="12528838" cy="887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3184" spc="21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ACCESO A CONTENIDO Y HERRAMIENTAS DESPUÉS DE LA CONFERENCIA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97059" y="6999278"/>
            <a:ext cx="13096832" cy="1178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ESPACIO, EN LA COMUNIDAD DIGITAL, PARA SEGUIR APRENDIENDO Y CONSTRUYENDO PROYECTOS</a:t>
            </a:r>
          </a:p>
          <a:p>
            <a:pPr algn="l">
              <a:lnSpc>
                <a:spcPts val="297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197059" y="5231782"/>
            <a:ext cx="14062241" cy="4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884" spc="196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COMUNIDAD DE ESTUDIANTES INTERESADOS EN TECNOLOGÍA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651470" y="-757964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2"/>
                </a:lnTo>
                <a:lnTo>
                  <a:pt x="0" y="2173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394806" y="659463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113293" y="8973379"/>
            <a:ext cx="3484317" cy="2071585"/>
          </a:xfrm>
          <a:custGeom>
            <a:avLst/>
            <a:gdLst/>
            <a:ahLst/>
            <a:cxnLst/>
            <a:rect r="r" b="b" t="t" l="l"/>
            <a:pathLst>
              <a:path h="2071585" w="3484317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027523" y="7552462"/>
            <a:ext cx="3655283" cy="2173232"/>
          </a:xfrm>
          <a:custGeom>
            <a:avLst/>
            <a:gdLst/>
            <a:ahLst/>
            <a:cxnLst/>
            <a:rect r="r" b="b" t="t" l="l"/>
            <a:pathLst>
              <a:path h="2173232" w="3655283">
                <a:moveTo>
                  <a:pt x="0" y="0"/>
                </a:moveTo>
                <a:lnTo>
                  <a:pt x="3655283" y="0"/>
                </a:lnTo>
                <a:lnTo>
                  <a:pt x="3655283" y="2173231"/>
                </a:lnTo>
                <a:lnTo>
                  <a:pt x="0" y="2173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DAHGFx_FtQY</dc:identifier>
  <dcterms:modified xsi:type="dcterms:W3CDTF">2011-08-01T06:04:30Z</dcterms:modified>
  <cp:revision>1</cp:revision>
  <dc:title>Presentacio NG</dc:title>
</cp:coreProperties>
</file>